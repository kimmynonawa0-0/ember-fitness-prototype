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11"/>
  </p:notesMasterIdLst>
  <p:handoutMasterIdLst>
    <p:handoutMasterId r:id="rId12"/>
  </p:handoutMasterIdLst>
  <p:sldIdLst>
    <p:sldId id="291" r:id="rId2"/>
    <p:sldId id="326" r:id="rId3"/>
    <p:sldId id="333" r:id="rId4"/>
    <p:sldId id="328" r:id="rId5"/>
    <p:sldId id="334" r:id="rId6"/>
    <p:sldId id="335" r:id="rId7"/>
    <p:sldId id="336" r:id="rId8"/>
    <p:sldId id="337" r:id="rId9"/>
    <p:sldId id="338" r:id="rId10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BB"/>
    <a:srgbClr val="186030"/>
    <a:srgbClr val="008000"/>
    <a:srgbClr val="006600"/>
    <a:srgbClr val="828383"/>
    <a:srgbClr val="666666"/>
    <a:srgbClr val="4DC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2" autoAdjust="0"/>
    <p:restoredTop sz="96532" autoAdjust="0"/>
  </p:normalViewPr>
  <p:slideViewPr>
    <p:cSldViewPr snapToGrid="0" snapToObjects="1">
      <p:cViewPr varScale="1">
        <p:scale>
          <a:sx n="106" d="100"/>
          <a:sy n="106" d="100"/>
        </p:scale>
        <p:origin x="98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0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39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pPr/>
              <a:t>9/18/2026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pPr/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86029"/>
            <a:ext cx="10897528" cy="1862328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ctr">
              <a:lnSpc>
                <a:spcPts val="5800"/>
              </a:lnSpc>
              <a:defRPr sz="6000" b="1" i="0" cap="all" baseline="0">
                <a:solidFill>
                  <a:srgbClr val="18603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Title Presentation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4224771"/>
            <a:ext cx="10897528" cy="572943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ctr">
              <a:buNone/>
              <a:defRPr sz="2800" b="0" i="0">
                <a:solidFill>
                  <a:schemeClr val="accent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761" y="2743199"/>
            <a:ext cx="12191239" cy="895420"/>
          </a:xfrm>
          <a:prstGeom prst="rect">
            <a:avLst/>
          </a:prstGeom>
          <a:ln>
            <a:noFill/>
          </a:ln>
        </p:spPr>
        <p:txBody>
          <a:bodyPr lIns="0" anchor="b">
            <a:normAutofit/>
          </a:bodyPr>
          <a:lstStyle>
            <a:lvl1pPr algn="ctr">
              <a:lnSpc>
                <a:spcPts val="5800"/>
              </a:lnSpc>
              <a:defRPr sz="54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61" y="3625367"/>
            <a:ext cx="12190476" cy="562319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8" y="2189263"/>
            <a:ext cx="6402832" cy="37904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029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5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8557757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ts val="26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20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9678987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300"/>
              </a:lnSpc>
              <a:buClr>
                <a:srgbClr val="005BBB"/>
              </a:buClr>
              <a:buFontTx/>
              <a:buNone/>
              <a:defRPr sz="1700" b="1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  <a:lvl2pPr marL="736600" indent="-279400">
              <a:lnSpc>
                <a:spcPts val="2300"/>
              </a:lnSpc>
              <a:buClr>
                <a:srgbClr val="005BBB"/>
              </a:buClr>
              <a:buFont typeface="Arial" charset="0"/>
              <a:buChar char="•"/>
              <a:tabLst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098566" y="930275"/>
            <a:ext cx="7093434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4268653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14631" y="934720"/>
            <a:ext cx="7077369" cy="306467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4268653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114631" y="3998296"/>
            <a:ext cx="360252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701089" y="3998296"/>
            <a:ext cx="349091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927100"/>
            <a:ext cx="12192000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566928" y="2320111"/>
            <a:ext cx="10515600" cy="3813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66928" y="1316736"/>
            <a:ext cx="10515600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045952" y="6221885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 descr="nwssu-pptbg-topgreen1.png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61" y="428"/>
            <a:ext cx="12190477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4" r:id="rId2"/>
    <p:sldLayoutId id="2147483895" r:id="rId3"/>
    <p:sldLayoutId id="2147483897" r:id="rId4"/>
    <p:sldLayoutId id="2147483907" r:id="rId5"/>
    <p:sldLayoutId id="2147483898" r:id="rId6"/>
    <p:sldLayoutId id="2147483900" r:id="rId7"/>
    <p:sldLayoutId id="2147483906" r:id="rId8"/>
    <p:sldLayoutId id="2147483902" r:id="rId9"/>
  </p:sldLayoutIdLst>
  <p:transition spd="slow">
    <p:wip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Georgia" charset="0"/>
          <a:ea typeface="Georgia" charset="0"/>
          <a:cs typeface="Georgia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LucidaGrande" charset="0"/>
        <a:buChar char="-"/>
        <a:defRPr sz="18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entury Gothic" panose="020B0502020202020204" pitchFamily="34" charset="0"/>
              </a:rPr>
              <a:t>Building Responsive Mobile Interfaces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latin typeface="Century Gothic" panose="020B0502020202020204" pitchFamily="34" charset="0"/>
              </a:rPr>
              <a:t>UI Core Components &amp; Flexbox Layouts</a:t>
            </a:r>
            <a:endParaRPr lang="en-US" sz="7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82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3910-7072-8CE7-81C8-E817C29AD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3303063"/>
            <a:ext cx="12191239" cy="895420"/>
          </a:xfrm>
        </p:spPr>
        <p:txBody>
          <a:bodyPr>
            <a:noAutofit/>
          </a:bodyPr>
          <a:lstStyle/>
          <a:p>
            <a:r>
              <a:rPr lang="en-PH" sz="4800" dirty="0"/>
              <a:t>Introduction to JSX Syntax &amp; Core </a:t>
            </a:r>
            <a:r>
              <a:rPr lang="en-PH" sz="4800" dirty="0" err="1"/>
              <a:t>ui</a:t>
            </a:r>
            <a:r>
              <a:rPr lang="en-PH" sz="4800" dirty="0"/>
              <a:t> components</a:t>
            </a:r>
            <a:endParaRPr lang="en-PH" sz="4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10377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2B661FD-73FC-1E20-BADB-9925CBFAB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775296"/>
              </p:ext>
            </p:extLst>
          </p:nvPr>
        </p:nvGraphicFramePr>
        <p:xfrm>
          <a:off x="473420" y="1721224"/>
          <a:ext cx="11245160" cy="479790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22580">
                  <a:extLst>
                    <a:ext uri="{9D8B030D-6E8A-4147-A177-3AD203B41FA5}">
                      <a16:colId xmlns:a16="http://schemas.microsoft.com/office/drawing/2014/main" val="1795179100"/>
                    </a:ext>
                  </a:extLst>
                </a:gridCol>
                <a:gridCol w="5622580">
                  <a:extLst>
                    <a:ext uri="{9D8B030D-6E8A-4147-A177-3AD203B41FA5}">
                      <a16:colId xmlns:a16="http://schemas.microsoft.com/office/drawing/2014/main" val="2328913686"/>
                    </a:ext>
                  </a:extLst>
                </a:gridCol>
              </a:tblGrid>
              <a:tr h="685415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HTML / React Web</a:t>
                      </a:r>
                      <a:endParaRPr lang="en-PH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React Native</a:t>
                      </a:r>
                      <a:endParaRPr lang="en-PH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848121"/>
                  </a:ext>
                </a:extLst>
              </a:tr>
              <a:tr h="685415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&lt;div&gt;</a:t>
                      </a:r>
                      <a:endParaRPr lang="en-PH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&lt;View&gt;</a:t>
                      </a:r>
                      <a:endParaRPr lang="en-PH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8369583"/>
                  </a:ext>
                </a:extLst>
              </a:tr>
              <a:tr h="685415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&lt;p&gt;</a:t>
                      </a:r>
                      <a:endParaRPr lang="en-PH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&lt;Text&gt;</a:t>
                      </a:r>
                      <a:endParaRPr lang="en-PH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2061543"/>
                  </a:ext>
                </a:extLst>
              </a:tr>
              <a:tr h="685415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&lt;h1&gt;</a:t>
                      </a:r>
                      <a:endParaRPr lang="en-PH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&lt;Text&gt; with styling</a:t>
                      </a:r>
                      <a:endParaRPr lang="en-PH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6222234"/>
                  </a:ext>
                </a:extLst>
              </a:tr>
              <a:tr h="685415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&lt;</a:t>
                      </a:r>
                      <a:r>
                        <a:rPr lang="en-PH" dirty="0" err="1"/>
                        <a:t>img</a:t>
                      </a:r>
                      <a:r>
                        <a:rPr lang="en-PH"/>
                        <a:t>&gt;</a:t>
                      </a:r>
                      <a:endParaRPr lang="en-PH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&lt;Image&gt;</a:t>
                      </a:r>
                      <a:endParaRPr lang="en-PH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0713408"/>
                  </a:ext>
                </a:extLst>
              </a:tr>
              <a:tr h="685415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&lt;input&gt;</a:t>
                      </a:r>
                      <a:endParaRPr lang="en-PH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&lt;</a:t>
                      </a:r>
                      <a:r>
                        <a:rPr lang="en-PH" dirty="0" err="1"/>
                        <a:t>TextInput</a:t>
                      </a:r>
                      <a:r>
                        <a:rPr lang="en-PH" dirty="0"/>
                        <a:t>&gt;</a:t>
                      </a:r>
                      <a:endParaRPr lang="en-PH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6449973"/>
                  </a:ext>
                </a:extLst>
              </a:tr>
              <a:tr h="685415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&lt;button&gt;</a:t>
                      </a:r>
                      <a:endParaRPr lang="en-PH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&lt;Button&gt; / (&lt;Pressable&gt; / &lt;</a:t>
                      </a:r>
                      <a:r>
                        <a:rPr lang="en-PH" dirty="0" err="1"/>
                        <a:t>TouchableOpacity</a:t>
                      </a:r>
                      <a:r>
                        <a:rPr lang="en-PH" dirty="0"/>
                        <a:t>&gt;)</a:t>
                      </a:r>
                      <a:endParaRPr lang="en-PH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549074"/>
                  </a:ext>
                </a:extLst>
              </a:tr>
            </a:tbl>
          </a:graphicData>
        </a:graphic>
      </p:graphicFrame>
      <p:sp>
        <p:nvSpPr>
          <p:cNvPr id="8" name="Title 3">
            <a:extLst>
              <a:ext uri="{FF2B5EF4-FFF2-40B4-BE49-F238E27FC236}">
                <a16:creationId xmlns:a16="http://schemas.microsoft.com/office/drawing/2014/main" id="{119CAF35-E519-F7CF-23EF-5B902BC69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641" y="925158"/>
            <a:ext cx="7116718" cy="692178"/>
          </a:xfrm>
        </p:spPr>
        <p:txBody>
          <a:bodyPr>
            <a:normAutofit/>
          </a:bodyPr>
          <a:lstStyle/>
          <a:p>
            <a:r>
              <a:rPr lang="en-PH" dirty="0">
                <a:latin typeface="Century Gothic" panose="020B0502020202020204" pitchFamily="34" charset="0"/>
              </a:rPr>
              <a:t>React vs React Native Libraries</a:t>
            </a:r>
          </a:p>
        </p:txBody>
      </p:sp>
    </p:spTree>
    <p:extLst>
      <p:ext uri="{BB962C8B-B14F-4D97-AF65-F5344CB8AC3E}">
        <p14:creationId xmlns:p14="http://schemas.microsoft.com/office/powerpoint/2010/main" val="393461740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42A2CC-0555-EA8B-DFAE-026137BC9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756737"/>
              </p:ext>
            </p:extLst>
          </p:nvPr>
        </p:nvGraphicFramePr>
        <p:xfrm>
          <a:off x="258184" y="2205318"/>
          <a:ext cx="11725835" cy="4292302"/>
        </p:xfrm>
        <a:graphic>
          <a:graphicData uri="http://schemas.openxmlformats.org/drawingml/2006/table">
            <a:tbl>
              <a:tblPr/>
              <a:tblGrid>
                <a:gridCol w="2366682">
                  <a:extLst>
                    <a:ext uri="{9D8B030D-6E8A-4147-A177-3AD203B41FA5}">
                      <a16:colId xmlns:a16="http://schemas.microsoft.com/office/drawing/2014/main" val="1872368598"/>
                    </a:ext>
                  </a:extLst>
                </a:gridCol>
                <a:gridCol w="5176977">
                  <a:extLst>
                    <a:ext uri="{9D8B030D-6E8A-4147-A177-3AD203B41FA5}">
                      <a16:colId xmlns:a16="http://schemas.microsoft.com/office/drawing/2014/main" val="2941893573"/>
                    </a:ext>
                  </a:extLst>
                </a:gridCol>
                <a:gridCol w="4182176">
                  <a:extLst>
                    <a:ext uri="{9D8B030D-6E8A-4147-A177-3AD203B41FA5}">
                      <a16:colId xmlns:a16="http://schemas.microsoft.com/office/drawing/2014/main" val="1101221094"/>
                    </a:ext>
                  </a:extLst>
                </a:gridCol>
              </a:tblGrid>
              <a:tr h="435451">
                <a:tc>
                  <a:txBody>
                    <a:bodyPr/>
                    <a:lstStyle/>
                    <a:p>
                      <a:pPr rtl="0"/>
                      <a:r>
                        <a:rPr lang="en-PH" sz="1600" b="1" dirty="0">
                          <a:solidFill>
                            <a:srgbClr val="1F1F1F"/>
                          </a:solidFill>
                          <a:effectLst/>
                          <a:latin typeface="Century Gothic" panose="020B0502020202020204" pitchFamily="34" charset="0"/>
                        </a:rPr>
                        <a:t>Component</a:t>
                      </a:r>
                      <a:endParaRPr lang="en-PH" sz="1600" dirty="0">
                        <a:solidFill>
                          <a:srgbClr val="1F1F1F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03662" marR="103662" marT="69108" marB="6910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PH" sz="1600" b="1" dirty="0">
                          <a:solidFill>
                            <a:srgbClr val="1F1F1F"/>
                          </a:solidFill>
                          <a:effectLst/>
                          <a:latin typeface="Century Gothic" panose="020B0502020202020204" pitchFamily="34" charset="0"/>
                        </a:rPr>
                        <a:t>What It Is</a:t>
                      </a:r>
                      <a:endParaRPr lang="en-PH" sz="1600" dirty="0">
                        <a:solidFill>
                          <a:srgbClr val="1F1F1F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03662" marR="103662" marT="69108" marB="6910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PH" sz="1600" b="1">
                          <a:solidFill>
                            <a:srgbClr val="1F1F1F"/>
                          </a:solidFill>
                          <a:effectLst/>
                          <a:latin typeface="Century Gothic" panose="020B0502020202020204" pitchFamily="34" charset="0"/>
                        </a:rPr>
                        <a:t>How to Use It</a:t>
                      </a:r>
                      <a:endParaRPr lang="en-PH" sz="1600">
                        <a:solidFill>
                          <a:srgbClr val="1F1F1F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03662" marR="103662" marT="69108" marB="6910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976450"/>
                  </a:ext>
                </a:extLst>
              </a:tr>
              <a:tr h="995315">
                <a:tc>
                  <a:txBody>
                    <a:bodyPr/>
                    <a:lstStyle/>
                    <a:p>
                      <a:pPr rtl="0"/>
                      <a:r>
                        <a:rPr lang="en-PH" sz="1600">
                          <a:solidFill>
                            <a:srgbClr val="1F1F1F"/>
                          </a:solidFill>
                          <a:effectLst/>
                          <a:latin typeface="Century Gothic" panose="020B0502020202020204" pitchFamily="34" charset="0"/>
                        </a:rPr>
                        <a:t>&lt;View&gt;</a:t>
                      </a:r>
                    </a:p>
                  </a:txBody>
                  <a:tcPr marL="103662" marR="103662" marT="69108" marB="6910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Century Gothic" panose="020B0502020202020204" pitchFamily="34" charset="0"/>
                        </a:rPr>
                        <a:t>The fundamental container. Equivalent to a &lt;div&gt; in web development.</a:t>
                      </a:r>
                    </a:p>
                  </a:txBody>
                  <a:tcPr marL="103662" marR="103662" marT="69108" marB="6910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Century Gothic" panose="020B0502020202020204" pitchFamily="34" charset="0"/>
                        </a:rPr>
                        <a:t>Wrapping other components or creating boxes/cards.</a:t>
                      </a:r>
                    </a:p>
                  </a:txBody>
                  <a:tcPr marL="103662" marR="103662" marT="69108" marB="6910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13810"/>
                  </a:ext>
                </a:extLst>
              </a:tr>
              <a:tr h="715384">
                <a:tc>
                  <a:txBody>
                    <a:bodyPr/>
                    <a:lstStyle/>
                    <a:p>
                      <a:pPr rtl="0"/>
                      <a:r>
                        <a:rPr lang="en-PH" sz="1600">
                          <a:solidFill>
                            <a:srgbClr val="1F1F1F"/>
                          </a:solidFill>
                          <a:effectLst/>
                          <a:latin typeface="Century Gothic" panose="020B0502020202020204" pitchFamily="34" charset="0"/>
                        </a:rPr>
                        <a:t>&lt;Text&gt;</a:t>
                      </a:r>
                    </a:p>
                  </a:txBody>
                  <a:tcPr marL="103662" marR="103662" marT="69108" marB="6910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Century Gothic" panose="020B0502020202020204" pitchFamily="34" charset="0"/>
                        </a:rPr>
                        <a:t>The only component that can display words.</a:t>
                      </a:r>
                    </a:p>
                  </a:txBody>
                  <a:tcPr marL="103662" marR="103662" marT="69108" marB="6910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Century Gothic" panose="020B0502020202020204" pitchFamily="34" charset="0"/>
                        </a:rPr>
                        <a:t>Wrapping any string of text.</a:t>
                      </a:r>
                    </a:p>
                  </a:txBody>
                  <a:tcPr marL="103662" marR="103662" marT="69108" marB="6910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895038"/>
                  </a:ext>
                </a:extLst>
              </a:tr>
              <a:tr h="715384">
                <a:tc>
                  <a:txBody>
                    <a:bodyPr/>
                    <a:lstStyle/>
                    <a:p>
                      <a:pPr rtl="0"/>
                      <a:r>
                        <a:rPr lang="en-PH" sz="1600">
                          <a:solidFill>
                            <a:srgbClr val="1F1F1F"/>
                          </a:solidFill>
                          <a:effectLst/>
                          <a:latin typeface="Century Gothic" panose="020B0502020202020204" pitchFamily="34" charset="0"/>
                        </a:rPr>
                        <a:t>&lt;Image&gt;</a:t>
                      </a:r>
                    </a:p>
                  </a:txBody>
                  <a:tcPr marL="103662" marR="103662" marT="69108" marB="6910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Century Gothic" panose="020B0502020202020204" pitchFamily="34" charset="0"/>
                        </a:rPr>
                        <a:t>Displays local or web images.</a:t>
                      </a:r>
                    </a:p>
                  </a:txBody>
                  <a:tcPr marL="103662" marR="103662" marT="69108" marB="6910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sz="1600">
                          <a:solidFill>
                            <a:srgbClr val="1F1F1F"/>
                          </a:solidFill>
                          <a:effectLst/>
                          <a:latin typeface="Century Gothic" panose="020B0502020202020204" pitchFamily="34" charset="0"/>
                        </a:rPr>
                        <a:t>Requires a source prop (e.g., source={{uri: 'url'}}).</a:t>
                      </a:r>
                    </a:p>
                  </a:txBody>
                  <a:tcPr marL="103662" marR="103662" marT="69108" marB="6910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355485"/>
                  </a:ext>
                </a:extLst>
              </a:tr>
              <a:tr h="715384">
                <a:tc>
                  <a:txBody>
                    <a:bodyPr/>
                    <a:lstStyle/>
                    <a:p>
                      <a:pPr rtl="0"/>
                      <a:r>
                        <a:rPr lang="en-PH" sz="1600">
                          <a:solidFill>
                            <a:srgbClr val="1F1F1F"/>
                          </a:solidFill>
                          <a:effectLst/>
                          <a:latin typeface="Century Gothic" panose="020B0502020202020204" pitchFamily="34" charset="0"/>
                        </a:rPr>
                        <a:t>&lt;TextInput&gt;</a:t>
                      </a:r>
                    </a:p>
                  </a:txBody>
                  <a:tcPr marL="103662" marR="103662" marT="69108" marB="6910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Century Gothic" panose="020B0502020202020204" pitchFamily="34" charset="0"/>
                        </a:rPr>
                        <a:t>A field for users to type data into.</a:t>
                      </a:r>
                    </a:p>
                  </a:txBody>
                  <a:tcPr marL="103662" marR="103662" marT="69108" marB="6910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Century Gothic" panose="020B0502020202020204" pitchFamily="34" charset="0"/>
                        </a:rPr>
                        <a:t>Capturing passwords, usernames, or search queries.</a:t>
                      </a:r>
                    </a:p>
                  </a:txBody>
                  <a:tcPr marL="103662" marR="103662" marT="69108" marB="6910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648594"/>
                  </a:ext>
                </a:extLst>
              </a:tr>
              <a:tr h="715384">
                <a:tc>
                  <a:txBody>
                    <a:bodyPr/>
                    <a:lstStyle/>
                    <a:p>
                      <a:pPr rtl="0"/>
                      <a:r>
                        <a:rPr lang="en-PH" sz="1600">
                          <a:solidFill>
                            <a:srgbClr val="1F1F1F"/>
                          </a:solidFill>
                          <a:effectLst/>
                          <a:latin typeface="Century Gothic" panose="020B0502020202020204" pitchFamily="34" charset="0"/>
                        </a:rPr>
                        <a:t>&lt;TouchableOpacity&gt;</a:t>
                      </a:r>
                    </a:p>
                  </a:txBody>
                  <a:tcPr marL="103662" marR="103662" marT="69108" marB="6910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Century Gothic" panose="020B0502020202020204" pitchFamily="34" charset="0"/>
                        </a:rPr>
                        <a:t>A wrapper that makes any view respond to taps.</a:t>
                      </a:r>
                    </a:p>
                  </a:txBody>
                  <a:tcPr marL="103662" marR="103662" marT="69108" marB="6910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PH" sz="1600" dirty="0">
                          <a:solidFill>
                            <a:srgbClr val="1F1F1F"/>
                          </a:solidFill>
                          <a:effectLst/>
                          <a:latin typeface="Century Gothic" panose="020B0502020202020204" pitchFamily="34" charset="0"/>
                        </a:rPr>
                        <a:t>Creating interactive custom buttons.</a:t>
                      </a:r>
                    </a:p>
                  </a:txBody>
                  <a:tcPr marL="103662" marR="103662" marT="69108" marB="6910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06307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A8CCB06-B802-AFCB-8F07-112066857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70" y="1536412"/>
            <a:ext cx="11093949" cy="44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923714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3910-7072-8CE7-81C8-E817C29AD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/>
              <a:t>The stylesheet </a:t>
            </a:r>
            <a:r>
              <a:rPr lang="en-PH" dirty="0" err="1"/>
              <a:t>api</a:t>
            </a:r>
            <a:endParaRPr lang="en-PH" dirty="0">
              <a:latin typeface="Century Gothic" panose="020B0502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34CCC-6466-D141-CB4C-3970C84B49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36681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22CA29-7FCB-8D10-E877-B8A3F9130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9075" y="828675"/>
            <a:ext cx="6127937" cy="5562600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An </a:t>
            </a:r>
            <a:r>
              <a:rPr lang="en-US" b="1" dirty="0">
                <a:latin typeface="Century Gothic" panose="020B0502020202020204" pitchFamily="34" charset="0"/>
              </a:rPr>
              <a:t>API or Application Programming Interface</a:t>
            </a:r>
            <a:r>
              <a:rPr lang="en-US" dirty="0">
                <a:latin typeface="Century Gothic" panose="020B0502020202020204" pitchFamily="34" charset="0"/>
              </a:rPr>
              <a:t> is an interface that allows one piece of software to interact with another.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The </a:t>
            </a:r>
            <a:r>
              <a:rPr lang="en-US" b="1" dirty="0" err="1">
                <a:latin typeface="Century Gothic" panose="020B0502020202020204" pitchFamily="34" charset="0"/>
              </a:rPr>
              <a:t>StyleSheet</a:t>
            </a:r>
            <a:r>
              <a:rPr lang="en-US" b="1" dirty="0">
                <a:latin typeface="Century Gothic" panose="020B0502020202020204" pitchFamily="34" charset="0"/>
              </a:rPr>
              <a:t> API </a:t>
            </a:r>
            <a:r>
              <a:rPr lang="en-US" dirty="0">
                <a:latin typeface="Century Gothic" panose="020B0502020202020204" pitchFamily="34" charset="0"/>
              </a:rPr>
              <a:t>is </a:t>
            </a:r>
            <a:r>
              <a:rPr lang="en-US" b="1" dirty="0">
                <a:latin typeface="Century Gothic" panose="020B0502020202020204" pitchFamily="34" charset="0"/>
              </a:rPr>
              <a:t>React Native</a:t>
            </a:r>
            <a:r>
              <a:rPr lang="en-US" dirty="0">
                <a:latin typeface="Century Gothic" panose="020B0502020202020204" pitchFamily="34" charset="0"/>
              </a:rPr>
              <a:t>'s built-in tool that translates JavaScript style objects into the actual native rendering instructions for </a:t>
            </a:r>
            <a:r>
              <a:rPr lang="en-US" b="1" dirty="0">
                <a:latin typeface="Century Gothic" panose="020B0502020202020204" pitchFamily="34" charset="0"/>
              </a:rPr>
              <a:t>iOS</a:t>
            </a:r>
            <a:r>
              <a:rPr lang="en-US" dirty="0">
                <a:latin typeface="Century Gothic" panose="020B0502020202020204" pitchFamily="34" charset="0"/>
              </a:rPr>
              <a:t> and </a:t>
            </a:r>
            <a:r>
              <a:rPr lang="en-US" b="1" dirty="0">
                <a:latin typeface="Century Gothic" panose="020B0502020202020204" pitchFamily="34" charset="0"/>
              </a:rPr>
              <a:t>Android</a:t>
            </a:r>
            <a:r>
              <a:rPr lang="en-US" dirty="0">
                <a:latin typeface="Century Gothic" panose="020B0502020202020204" pitchFamily="34" charset="0"/>
              </a:rPr>
              <a:t> displays.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You use it by importing </a:t>
            </a:r>
            <a:r>
              <a:rPr lang="en-US" b="1" dirty="0" err="1">
                <a:latin typeface="Century Gothic" panose="020B0502020202020204" pitchFamily="34" charset="0"/>
              </a:rPr>
              <a:t>StyleSheet</a:t>
            </a:r>
            <a:r>
              <a:rPr lang="en-US" dirty="0">
                <a:latin typeface="Century Gothic" panose="020B0502020202020204" pitchFamily="34" charset="0"/>
              </a:rPr>
              <a:t> from 'react-native', calling </a:t>
            </a:r>
            <a:r>
              <a:rPr lang="en-US" b="1" dirty="0" err="1">
                <a:latin typeface="Century Gothic" panose="020B0502020202020204" pitchFamily="34" charset="0"/>
              </a:rPr>
              <a:t>StyleSheet.create</a:t>
            </a:r>
            <a:r>
              <a:rPr lang="en-US" b="1" dirty="0">
                <a:latin typeface="Century Gothic" panose="020B0502020202020204" pitchFamily="34" charset="0"/>
              </a:rPr>
              <a:t>({ ... })</a:t>
            </a:r>
            <a:r>
              <a:rPr lang="en-US" dirty="0">
                <a:latin typeface="Century Gothic" panose="020B0502020202020204" pitchFamily="34" charset="0"/>
              </a:rPr>
              <a:t>, and passing the resulting objects to your components via the style prop.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87436E-E28E-6E69-53E3-80DB1FCF8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828674"/>
            <a:ext cx="5613041" cy="473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114167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3910-7072-8CE7-81C8-E817C29AD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/>
              <a:t>Mastering Flexbox</a:t>
            </a:r>
            <a:endParaRPr lang="en-PH" dirty="0">
              <a:latin typeface="Century Gothic" panose="020B0502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34CCC-6466-D141-CB4C-3970C84B49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80205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22CA29-7FCB-8D10-E877-B8A3F9130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9075" y="828675"/>
            <a:ext cx="11753850" cy="5562600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Flexbox is the algorithm used to dynamically space and align items on varying screen sizes.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Mental Checklist:</a:t>
            </a:r>
          </a:p>
          <a:p>
            <a:pPr marL="914389" lvl="1" indent="-457200" algn="just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What is my main axis? (</a:t>
            </a:r>
            <a:r>
              <a:rPr lang="en-US" sz="18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flexDirection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 determines if items stack top-to-bottom or left-to-right).</a:t>
            </a:r>
          </a:p>
          <a:p>
            <a:pPr marL="914389" lvl="1" indent="-457200" algn="just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How are children distributed along it? (</a:t>
            </a:r>
            <a:r>
              <a:rPr lang="en-US" sz="18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justifyContent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 spaces items out along that main axis).</a:t>
            </a:r>
          </a:p>
          <a:p>
            <a:pPr marL="914389" lvl="1" indent="-457200" algn="just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How are children positioned across it? (</a:t>
            </a:r>
            <a:r>
              <a:rPr lang="en-US" sz="18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alignItems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 centers or stretches items perpendicular to the main axis)</a:t>
            </a:r>
          </a:p>
          <a:p>
            <a:pPr marL="914389" lvl="1" indent="-457200" algn="just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How much space does each child take? (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flex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, 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width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, 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height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 determine the sizing rules).</a:t>
            </a:r>
          </a:p>
          <a:p>
            <a:pPr marL="914389" lvl="1" indent="-457200" algn="just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How much space exists between/around things? (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gap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, 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margin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, 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padding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 control the breathing room).</a:t>
            </a:r>
            <a:endParaRPr lang="en-PH" sz="1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028545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1AE6E2-95F0-9D8D-D998-978CA9DC4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57" y="653994"/>
            <a:ext cx="6222627" cy="60873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0F293B-66AB-A0E7-A945-C88D218C7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878" y="653993"/>
            <a:ext cx="5591465" cy="431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03395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UB Powerpoint Templat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45602</TotalTime>
  <Words>378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Georgia</vt:lpstr>
      <vt:lpstr>LucidaGrande</vt:lpstr>
      <vt:lpstr>UB Powerpoint Template</vt:lpstr>
      <vt:lpstr>UI Core Components &amp; Flexbox Layouts</vt:lpstr>
      <vt:lpstr>Introduction to JSX Syntax &amp; Core ui components</vt:lpstr>
      <vt:lpstr>React vs React Native Libraries</vt:lpstr>
      <vt:lpstr>PowerPoint Presentation</vt:lpstr>
      <vt:lpstr>The stylesheet api</vt:lpstr>
      <vt:lpstr>PowerPoint Presentation</vt:lpstr>
      <vt:lpstr>Mastering Flexbox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NwSSU PPT Green Template</dc:title>
  <dc:creator>raa</dc:creator>
  <cp:lastModifiedBy>YuoRitz</cp:lastModifiedBy>
  <cp:revision>776</cp:revision>
  <cp:lastPrinted>2015-10-19T19:01:41Z</cp:lastPrinted>
  <dcterms:created xsi:type="dcterms:W3CDTF">2016-06-28T14:05:07Z</dcterms:created>
  <dcterms:modified xsi:type="dcterms:W3CDTF">2026-09-18T02:38:43Z</dcterms:modified>
</cp:coreProperties>
</file>