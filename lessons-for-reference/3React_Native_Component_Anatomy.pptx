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1" r:id="rId1"/>
  </p:sldMasterIdLst>
  <p:notesMasterIdLst>
    <p:notesMasterId r:id="rId15"/>
  </p:notesMasterIdLst>
  <p:handoutMasterIdLst>
    <p:handoutMasterId r:id="rId16"/>
  </p:handoutMasterIdLst>
  <p:sldIdLst>
    <p:sldId id="291" r:id="rId2"/>
    <p:sldId id="326" r:id="rId3"/>
    <p:sldId id="328" r:id="rId4"/>
    <p:sldId id="327" r:id="rId5"/>
    <p:sldId id="329" r:id="rId6"/>
    <p:sldId id="335" r:id="rId7"/>
    <p:sldId id="336" r:id="rId8"/>
    <p:sldId id="337" r:id="rId9"/>
    <p:sldId id="334" r:id="rId10"/>
    <p:sldId id="338" r:id="rId11"/>
    <p:sldId id="330" r:id="rId12"/>
    <p:sldId id="331" r:id="rId13"/>
    <p:sldId id="332" r:id="rId14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BBB"/>
    <a:srgbClr val="186030"/>
    <a:srgbClr val="008000"/>
    <a:srgbClr val="006600"/>
    <a:srgbClr val="828383"/>
    <a:srgbClr val="666666"/>
    <a:srgbClr val="4DC3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22" autoAdjust="0"/>
    <p:restoredTop sz="96532" autoAdjust="0"/>
  </p:normalViewPr>
  <p:slideViewPr>
    <p:cSldViewPr snapToGrid="0" snapToObjects="1">
      <p:cViewPr varScale="1">
        <p:scale>
          <a:sx n="89" d="100"/>
          <a:sy n="89" d="100"/>
        </p:scale>
        <p:origin x="96" y="4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60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7" d="100"/>
          <a:sy n="87" d="100"/>
        </p:scale>
        <p:origin x="390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D33A1-6D17-2C4C-B4C2-C83DB37352CC}" type="datetimeFigureOut">
              <a:rPr lang="en-US" smtClean="0">
                <a:latin typeface="Arial" charset="0"/>
              </a:rPr>
              <a:pPr/>
              <a:t>9/17/2026</a:t>
            </a:fld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9171E-5108-1245-8B63-E8B205C9AF87}" type="slidenum">
              <a:rPr lang="en-US" smtClean="0">
                <a:latin typeface="Arial" charset="0"/>
              </a:rPr>
              <a:pPr/>
              <a:t>‹#›</a:t>
            </a:fld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542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fld id="{5B96CA4F-2197-CC40-B4FC-798A937A9DC6}" type="datetimeFigureOut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fld id="{02322656-8894-1544-92AA-01B3CF5E61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5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86029"/>
            <a:ext cx="10897528" cy="1862328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ctr">
              <a:lnSpc>
                <a:spcPts val="5800"/>
              </a:lnSpc>
              <a:defRPr sz="6000" b="1" i="0" cap="all" baseline="0">
                <a:solidFill>
                  <a:srgbClr val="18603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Title Presentation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4224771"/>
            <a:ext cx="10897528" cy="572943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 algn="ctr">
              <a:buNone/>
              <a:defRPr sz="2800" b="0" i="0">
                <a:solidFill>
                  <a:schemeClr val="accent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</p:spTree>
    <p:extLst>
      <p:ext uri="{BB962C8B-B14F-4D97-AF65-F5344CB8AC3E}">
        <p14:creationId xmlns:p14="http://schemas.microsoft.com/office/powerpoint/2010/main" val="505879846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761" y="2743199"/>
            <a:ext cx="12191239" cy="895420"/>
          </a:xfrm>
          <a:prstGeom prst="rect">
            <a:avLst/>
          </a:prstGeom>
          <a:ln>
            <a:noFill/>
          </a:ln>
        </p:spPr>
        <p:txBody>
          <a:bodyPr lIns="0" anchor="b">
            <a:normAutofit/>
          </a:bodyPr>
          <a:lstStyle>
            <a:lvl1pPr algn="ctr">
              <a:lnSpc>
                <a:spcPts val="5800"/>
              </a:lnSpc>
              <a:defRPr sz="54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61" y="3625367"/>
            <a:ext cx="12190476" cy="562319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ctr">
              <a:buNone/>
              <a:defRPr sz="2400" b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75046564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8" y="2189263"/>
            <a:ext cx="6402832" cy="379048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569468" y="1320800"/>
            <a:ext cx="105156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36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66897971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66928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5029200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vitae dolor </a:t>
            </a:r>
            <a:r>
              <a:rPr lang="en-US" dirty="0" err="1"/>
              <a:t>euismod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. In </a:t>
            </a:r>
            <a:r>
              <a:rPr lang="en-US" dirty="0" err="1"/>
              <a:t>ornare</a:t>
            </a:r>
            <a:r>
              <a:rPr lang="en-US" dirty="0"/>
              <a:t> convallis </a:t>
            </a:r>
            <a:r>
              <a:rPr lang="en-US" dirty="0" err="1"/>
              <a:t>velit</a:t>
            </a:r>
            <a:r>
              <a:rPr lang="en-US" dirty="0"/>
              <a:t> vitae cursus. Integer </a:t>
            </a:r>
            <a:r>
              <a:rPr lang="en-US" dirty="0" err="1"/>
              <a:t>egestas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mi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5" name="Title 3"/>
          <p:cNvSpPr>
            <a:spLocks noGrp="1"/>
          </p:cNvSpPr>
          <p:nvPr>
            <p:ph type="title" hasCustomPrompt="1"/>
          </p:nvPr>
        </p:nvSpPr>
        <p:spPr>
          <a:xfrm>
            <a:off x="569468" y="1320800"/>
            <a:ext cx="105156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36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61855670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66928" y="2185416"/>
            <a:ext cx="8557757" cy="373242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457200" marR="0" indent="-406400" algn="l" defTabSz="914400" rtl="0" eaLnBrk="1" fontAlgn="auto" latinLnBrk="0" hangingPunct="1">
              <a:lnSpc>
                <a:spcPts val="2600"/>
              </a:lnSpc>
              <a:spcBef>
                <a:spcPts val="1000"/>
              </a:spcBef>
              <a:spcAft>
                <a:spcPts val="0"/>
              </a:spcAft>
              <a:buClr>
                <a:srgbClr val="005BBB"/>
              </a:buClr>
              <a:buSzPct val="109000"/>
              <a:buFont typeface="Arial" charset="0"/>
              <a:buChar char="•"/>
              <a:tabLst/>
              <a:defRPr sz="2000" b="0" i="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r>
              <a:rPr lang="en-US" dirty="0" err="1"/>
              <a:t>Quisque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 in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</a:t>
            </a:r>
          </a:p>
          <a:p>
            <a:r>
              <a:rPr lang="en-US" dirty="0" err="1"/>
              <a:t>Donec</a:t>
            </a:r>
            <a:r>
              <a:rPr lang="en-US" dirty="0"/>
              <a:t> vitae </a:t>
            </a:r>
            <a:r>
              <a:rPr lang="en-US" dirty="0" err="1"/>
              <a:t>justo</a:t>
            </a:r>
            <a:r>
              <a:rPr lang="en-US" dirty="0"/>
              <a:t> et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  <a:p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ex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  <a:p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ac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</a:t>
            </a:r>
          </a:p>
          <a:p>
            <a:r>
              <a:rPr lang="en-US" dirty="0" err="1"/>
              <a:t>Duis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</a:t>
            </a:r>
          </a:p>
          <a:p>
            <a:r>
              <a:rPr lang="en-US" dirty="0"/>
              <a:t>Justo et neque odio facilisis turpis </a:t>
            </a:r>
            <a:r>
              <a:rPr lang="en-US" dirty="0" err="1"/>
              <a:t>sodales</a:t>
            </a:r>
            <a:r>
              <a:rPr lang="en-US" dirty="0"/>
              <a:t> placerat.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569468" y="1320800"/>
            <a:ext cx="105156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36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0740717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3 level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569468" y="1320800"/>
            <a:ext cx="105156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36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566928" y="2185416"/>
            <a:ext cx="9678987" cy="38481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300"/>
              </a:lnSpc>
              <a:buClr>
                <a:srgbClr val="005BBB"/>
              </a:buClr>
              <a:buFontTx/>
              <a:buNone/>
              <a:defRPr sz="1700" b="1">
                <a:solidFill>
                  <a:srgbClr val="005BBB"/>
                </a:solidFill>
                <a:latin typeface="Arial" charset="0"/>
                <a:ea typeface="Arial" charset="0"/>
                <a:cs typeface="Arial" charset="0"/>
              </a:defRPr>
            </a:lvl1pPr>
            <a:lvl2pPr marL="736600" indent="-279400">
              <a:lnSpc>
                <a:spcPts val="2300"/>
              </a:lnSpc>
              <a:buClr>
                <a:srgbClr val="005BBB"/>
              </a:buClr>
              <a:buFont typeface="Arial" charset="0"/>
              <a:buChar char="•"/>
              <a:tabLst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marR="0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1143000" algn="l"/>
              </a:tabLs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r>
              <a:rPr lang="en-US" dirty="0"/>
              <a:t>Second level text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 </a:t>
            </a:r>
          </a:p>
          <a:p>
            <a:pPr lvl="2"/>
            <a:r>
              <a:rPr lang="en-US" dirty="0"/>
              <a:t>Third level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4941200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098566" y="930275"/>
            <a:ext cx="7093434" cy="59309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6" name="Title 3"/>
          <p:cNvSpPr>
            <a:spLocks noGrp="1"/>
          </p:cNvSpPr>
          <p:nvPr>
            <p:ph type="title" hasCustomPrompt="1"/>
          </p:nvPr>
        </p:nvSpPr>
        <p:spPr>
          <a:xfrm>
            <a:off x="569468" y="1320800"/>
            <a:ext cx="4268653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36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9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8040584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114631" y="934720"/>
            <a:ext cx="7077369" cy="306467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6" name="Title 3"/>
          <p:cNvSpPr>
            <a:spLocks noGrp="1"/>
          </p:cNvSpPr>
          <p:nvPr>
            <p:ph type="title" hasCustomPrompt="1"/>
          </p:nvPr>
        </p:nvSpPr>
        <p:spPr>
          <a:xfrm>
            <a:off x="569468" y="1320800"/>
            <a:ext cx="4268653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36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114631" y="3998296"/>
            <a:ext cx="3602522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701089" y="3998296"/>
            <a:ext cx="3490912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9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727159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0" y="927100"/>
            <a:ext cx="12192000" cy="59309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784519440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68638" y="0"/>
            <a:ext cx="1169605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6" algn="ctr"/>
            <a:r>
              <a:rPr lang="en-US" sz="2400" dirty="0">
                <a:latin typeface="Arial" charset="0"/>
              </a:rPr>
              <a:t>‘-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2045778" y="1023929"/>
            <a:ext cx="8557756" cy="140269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Effra Trial Heavy" charset="0"/>
                <a:ea typeface="Effra Trial Heavy" charset="0"/>
                <a:cs typeface="Effra Trial Heavy" charset="0"/>
              </a:defRPr>
            </a:lvl1pPr>
          </a:lstStyle>
          <a:p>
            <a:endParaRPr lang="en-US" sz="4800" dirty="0"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9" name="Text Placeholder 2"/>
          <p:cNvSpPr txBox="1">
            <a:spLocks/>
          </p:cNvSpPr>
          <p:nvPr userDrawn="1"/>
        </p:nvSpPr>
        <p:spPr>
          <a:xfrm>
            <a:off x="2045778" y="2555888"/>
            <a:ext cx="8557756" cy="3078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828383"/>
                </a:solidFill>
                <a:latin typeface="Museo Slab 100" charset="0"/>
                <a:ea typeface="Museo Slab 100" charset="0"/>
                <a:cs typeface="Museo Slab 100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566928" y="2320111"/>
            <a:ext cx="10515600" cy="38133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566928" y="1316736"/>
            <a:ext cx="10515600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11045952" y="6221885"/>
            <a:ext cx="725424" cy="534516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15D2C3-7EB9-F849-9C19-1CC92E2870ED}" type="slidenum">
              <a:rPr lang="en-US" sz="1600" b="1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pPr/>
              <a:t>‹#›</a:t>
            </a:fld>
            <a:endParaRPr lang="en-US" sz="1600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4" name="Picture 13" descr="nwssu-pptbg-topgreen1.png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61" y="428"/>
            <a:ext cx="12190477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3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4" r:id="rId2"/>
    <p:sldLayoutId id="2147483895" r:id="rId3"/>
    <p:sldLayoutId id="2147483897" r:id="rId4"/>
    <p:sldLayoutId id="2147483907" r:id="rId5"/>
    <p:sldLayoutId id="2147483898" r:id="rId6"/>
    <p:sldLayoutId id="2147483900" r:id="rId7"/>
    <p:sldLayoutId id="2147483906" r:id="rId8"/>
    <p:sldLayoutId id="2147483902" r:id="rId9"/>
  </p:sldLayoutIdLst>
  <p:transition spd="slow">
    <p:wip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Georgia" charset="0"/>
          <a:ea typeface="Georgia" charset="0"/>
          <a:cs typeface="Georgia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5BBB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LucidaGrande" charset="0"/>
        <a:buChar char="-"/>
        <a:defRPr sz="1800" kern="1200" baseline="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80">
          <p15:clr>
            <a:srgbClr val="F26B43"/>
          </p15:clr>
        </p15:guide>
        <p15:guide id="2" pos="416">
          <p15:clr>
            <a:srgbClr val="F26B43"/>
          </p15:clr>
        </p15:guide>
        <p15:guide id="3" orient="horz" pos="4016">
          <p15:clr>
            <a:srgbClr val="F26B43"/>
          </p15:clr>
        </p15:guide>
        <p15:guide id="4" pos="7392">
          <p15:clr>
            <a:srgbClr val="F26B43"/>
          </p15:clr>
        </p15:guide>
        <p15:guide id="5" pos="288">
          <p15:clr>
            <a:srgbClr val="F26B43"/>
          </p15:clr>
        </p15:guide>
        <p15:guide id="6" pos="4464">
          <p15:clr>
            <a:srgbClr val="F26B43"/>
          </p15:clr>
        </p15:guide>
        <p15:guide id="7" pos="4704">
          <p15:clr>
            <a:srgbClr val="F26B43"/>
          </p15:clr>
        </p15:guide>
        <p15:guide id="8" pos="4512">
          <p15:clr>
            <a:srgbClr val="F26B43"/>
          </p15:clr>
        </p15:guide>
        <p15:guide id="9" orient="horz" pos="1848">
          <p15:clr>
            <a:srgbClr val="F26B43"/>
          </p15:clr>
        </p15:guide>
        <p15:guide id="10" orient="horz" pos="1896">
          <p15:clr>
            <a:srgbClr val="F26B43"/>
          </p15:clr>
        </p15:guide>
        <p15:guide id="11" orient="horz" pos="2880">
          <p15:clr>
            <a:srgbClr val="F26B43"/>
          </p15:clr>
        </p15:guide>
        <p15:guide id="1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android.com/tools/releases/platform-tools" TargetMode="Externa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flexboxlabs.netlify.app/?fbclid=IwY2xjawULoN1wZG9mBWV4dG4DYWVtAjEwAGJyaWQRMElFTkJDbmg4WFd6T2h0TjBzcnRjBmFwcF9pZBAyMjIwMzkxNzg4MjAwODkyAAEeOrlx7qOikb8c0RJ2R2XCrB8wguBHf2iN0Tloa8lCkSlezfRVMbow4Q0KROk_aem_rFoHFgBGPXe4GDcuIjSN6g" TargetMode="External"/><Relationship Id="rId3" Type="http://schemas.openxmlformats.org/officeDocument/2006/relationships/hyperlink" Target="https://react.dev/learn" TargetMode="External"/><Relationship Id="rId7" Type="http://schemas.openxmlformats.org/officeDocument/2006/relationships/hyperlink" Target="https://flexboxfroggy.com/?utm_source=chatgpt.com" TargetMode="External"/><Relationship Id="rId2" Type="http://schemas.openxmlformats.org/officeDocument/2006/relationships/hyperlink" Target="https://reactnative.dev/docs/getting-started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docs.expo.dev/?utm_source=chatgpt.com" TargetMode="External"/><Relationship Id="rId5" Type="http://schemas.openxmlformats.org/officeDocument/2006/relationships/hyperlink" Target="https://reactnavigation.org/?utm_source=chatgpt.com" TargetMode="External"/><Relationship Id="rId4" Type="http://schemas.openxmlformats.org/officeDocument/2006/relationships/hyperlink" Target="https://developer.mozilla.org/en-US/?utm_source=chatgpt.com" TargetMode="External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Century Gothic" panose="020B0502020202020204" pitchFamily="34" charset="0"/>
              </a:rPr>
              <a:t>Mobile App Start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7200" b="1" dirty="0">
                <a:latin typeface="Century Gothic" panose="020B0502020202020204" pitchFamily="34" charset="0"/>
              </a:rPr>
              <a:t>Anatomy of a React Native functional component</a:t>
            </a:r>
            <a:endParaRPr lang="en-US" sz="7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822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53910-7072-8CE7-81C8-E817C29AD8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dirty="0">
                <a:latin typeface="Century Gothic" panose="020B0502020202020204" pitchFamily="34" charset="0"/>
              </a:rPr>
              <a:t>Setup guide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A34CCC-6466-D141-CB4C-3970C84B49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H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10377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22CA29-7FCB-8D10-E877-B8A3F9130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9075" y="828675"/>
            <a:ext cx="11753850" cy="5562600"/>
          </a:xfrm>
        </p:spPr>
        <p:txBody>
          <a:bodyPr/>
          <a:lstStyle/>
          <a:p>
            <a:pPr marL="342900" indent="-342900">
              <a:buClrTx/>
              <a:buFont typeface="+mj-lt"/>
              <a:buAutoNum type="arabicPeriod"/>
            </a:pPr>
            <a:r>
              <a:rPr lang="en-PH" dirty="0">
                <a:latin typeface="Century Gothic" panose="020B0502020202020204" pitchFamily="34" charset="0"/>
              </a:rPr>
              <a:t>Must have node.js installed, and Expo Go app installed in smartphone.</a:t>
            </a:r>
          </a:p>
          <a:p>
            <a:pPr marL="342900" indent="-342900">
              <a:buClrTx/>
              <a:buFont typeface="+mj-lt"/>
              <a:buAutoNum type="arabicPeriod"/>
            </a:pPr>
            <a:r>
              <a:rPr lang="en-PH" dirty="0">
                <a:latin typeface="Century Gothic" panose="020B0502020202020204" pitchFamily="34" charset="0"/>
              </a:rPr>
              <a:t>Create a folder, then open it in </a:t>
            </a:r>
            <a:r>
              <a:rPr lang="en-PH" dirty="0" err="1">
                <a:latin typeface="Century Gothic" panose="020B0502020202020204" pitchFamily="34" charset="0"/>
              </a:rPr>
              <a:t>VSCode</a:t>
            </a:r>
            <a:endParaRPr lang="en-PH" dirty="0">
              <a:latin typeface="Century Gothic" panose="020B0502020202020204" pitchFamily="34" charset="0"/>
            </a:endParaRPr>
          </a:p>
          <a:p>
            <a:pPr marL="342900" indent="-342900">
              <a:buClrTx/>
              <a:buFont typeface="+mj-lt"/>
              <a:buAutoNum type="arabicPeriod"/>
            </a:pPr>
            <a:r>
              <a:rPr lang="en-PH" dirty="0">
                <a:latin typeface="Century Gothic" panose="020B0502020202020204" pitchFamily="34" charset="0"/>
              </a:rPr>
              <a:t>Run the command “</a:t>
            </a:r>
            <a:r>
              <a:rPr lang="en-PH" b="1" dirty="0" err="1">
                <a:latin typeface="Century Gothic" panose="020B0502020202020204" pitchFamily="34" charset="0"/>
              </a:rPr>
              <a:t>npx</a:t>
            </a:r>
            <a:r>
              <a:rPr lang="en-PH" b="1" dirty="0">
                <a:latin typeface="Century Gothic" panose="020B0502020202020204" pitchFamily="34" charset="0"/>
              </a:rPr>
              <a:t> create-expo-app </a:t>
            </a:r>
            <a:r>
              <a:rPr lang="en-PH" b="1" dirty="0" err="1">
                <a:latin typeface="Century Gothic" panose="020B0502020202020204" pitchFamily="34" charset="0"/>
              </a:rPr>
              <a:t>FirstMobileApp</a:t>
            </a:r>
            <a:r>
              <a:rPr lang="en-PH" b="1" dirty="0">
                <a:latin typeface="Century Gothic" panose="020B0502020202020204" pitchFamily="34" charset="0"/>
              </a:rPr>
              <a:t> --template blank</a:t>
            </a:r>
            <a:r>
              <a:rPr lang="en-PH" dirty="0">
                <a:latin typeface="Century Gothic" panose="020B0502020202020204" pitchFamily="34" charset="0"/>
              </a:rPr>
              <a:t>”, you can replace “</a:t>
            </a:r>
            <a:r>
              <a:rPr lang="en-PH" dirty="0" err="1">
                <a:latin typeface="Century Gothic" panose="020B0502020202020204" pitchFamily="34" charset="0"/>
              </a:rPr>
              <a:t>FirstMobileApp</a:t>
            </a:r>
            <a:r>
              <a:rPr lang="en-PH" dirty="0">
                <a:latin typeface="Century Gothic" panose="020B0502020202020204" pitchFamily="34" charset="0"/>
              </a:rPr>
              <a:t>” with your preferred name for your project.</a:t>
            </a:r>
          </a:p>
          <a:p>
            <a:pPr marL="342900" indent="-342900">
              <a:buClrTx/>
              <a:buFont typeface="+mj-lt"/>
              <a:buAutoNum type="arabicPeriod"/>
            </a:pPr>
            <a:r>
              <a:rPr lang="en-PH" dirty="0">
                <a:latin typeface="Century Gothic" panose="020B0502020202020204" pitchFamily="34" charset="0"/>
              </a:rPr>
              <a:t>You’ll be asked to “</a:t>
            </a:r>
            <a:r>
              <a:rPr lang="en-PH" b="1" dirty="0">
                <a:latin typeface="Century Gothic" panose="020B0502020202020204" pitchFamily="34" charset="0"/>
              </a:rPr>
              <a:t>Select an Expo SDK version</a:t>
            </a:r>
            <a:r>
              <a:rPr lang="en-PH" dirty="0">
                <a:latin typeface="Century Gothic" panose="020B0502020202020204" pitchFamily="34" charset="0"/>
              </a:rPr>
              <a:t>” use your up or down arrow keys to select </a:t>
            </a:r>
            <a:r>
              <a:rPr lang="en-PH" b="1" dirty="0">
                <a:latin typeface="Century Gothic" panose="020B0502020202020204" pitchFamily="34" charset="0"/>
              </a:rPr>
              <a:t>“</a:t>
            </a:r>
            <a:r>
              <a:rPr lang="en-PH" sz="2000" b="1" dirty="0">
                <a:latin typeface="Century Gothic" panose="020B0502020202020204" pitchFamily="34" charset="0"/>
              </a:rPr>
              <a:t>Latest (SDK 57)”</a:t>
            </a:r>
            <a:r>
              <a:rPr lang="en-PH" sz="2000" dirty="0">
                <a:latin typeface="Century Gothic" panose="020B0502020202020204" pitchFamily="34" charset="0"/>
              </a:rPr>
              <a:t> </a:t>
            </a:r>
            <a:r>
              <a:rPr lang="en-PH" dirty="0">
                <a:latin typeface="Century Gothic" panose="020B0502020202020204" pitchFamily="34" charset="0"/>
              </a:rPr>
              <a:t>then press enter and wait for it to finish downloading and extracting every project files needed, if this is your first time doing it, it will take around 5 to 10mins or longer for it also depends on your internet connection.</a:t>
            </a:r>
          </a:p>
          <a:p>
            <a:pPr marL="342900" indent="-342900">
              <a:buClrTx/>
              <a:buFont typeface="+mj-lt"/>
              <a:buAutoNum type="arabicPeriod"/>
            </a:pPr>
            <a:r>
              <a:rPr lang="en-PH" dirty="0">
                <a:latin typeface="Century Gothic" panose="020B0502020202020204" pitchFamily="34" charset="0"/>
              </a:rPr>
              <a:t>Once it’s done it will output this on your terminal, and you will see another folder inside your created folder navigate to it by typing </a:t>
            </a:r>
            <a:r>
              <a:rPr lang="en-PH" b="1" dirty="0">
                <a:latin typeface="Century Gothic" panose="020B0502020202020204" pitchFamily="34" charset="0"/>
              </a:rPr>
              <a:t>“cd &lt;</a:t>
            </a:r>
            <a:r>
              <a:rPr lang="en-PH" b="1" dirty="0" err="1">
                <a:latin typeface="Century Gothic" panose="020B0502020202020204" pitchFamily="34" charset="0"/>
              </a:rPr>
              <a:t>foldername</a:t>
            </a:r>
            <a:r>
              <a:rPr lang="en-PH" b="1" dirty="0">
                <a:latin typeface="Century Gothic" panose="020B0502020202020204" pitchFamily="34" charset="0"/>
              </a:rPr>
              <a:t>&gt;”</a:t>
            </a:r>
            <a:r>
              <a:rPr lang="en-PH" dirty="0">
                <a:latin typeface="Century Gothic" panose="020B0502020202020204" pitchFamily="34" charset="0"/>
              </a:rPr>
              <a:t>, don’t mind the </a:t>
            </a:r>
            <a:r>
              <a:rPr lang="en-PH" dirty="0" err="1">
                <a:latin typeface="Century Gothic" panose="020B0502020202020204" pitchFamily="34" charset="0"/>
              </a:rPr>
              <a:t>npm</a:t>
            </a:r>
            <a:r>
              <a:rPr lang="en-PH" dirty="0">
                <a:latin typeface="Century Gothic" panose="020B0502020202020204" pitchFamily="34" charset="0"/>
              </a:rPr>
              <a:t> commands.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PH" dirty="0">
              <a:latin typeface="Century Gothic" panose="020B0502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6DB1A1-9107-B003-B61B-CD31257A4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587" y="5015619"/>
            <a:ext cx="11534826" cy="158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923714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22CA29-7FCB-8D10-E877-B8A3F9130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9075" y="828675"/>
            <a:ext cx="11753850" cy="5562600"/>
          </a:xfrm>
        </p:spPr>
        <p:txBody>
          <a:bodyPr/>
          <a:lstStyle/>
          <a:p>
            <a:pPr marL="342900" indent="-342900">
              <a:buClrTx/>
              <a:buFont typeface="+mj-lt"/>
              <a:buAutoNum type="arabicPeriod" startAt="6"/>
            </a:pPr>
            <a:r>
              <a:rPr lang="en-PH" sz="1600" dirty="0">
                <a:latin typeface="Century Gothic" panose="020B0502020202020204" pitchFamily="34" charset="0"/>
              </a:rPr>
              <a:t>Run the command </a:t>
            </a:r>
            <a:r>
              <a:rPr lang="en-PH" sz="1600" b="1" dirty="0">
                <a:latin typeface="Century Gothic" panose="020B0502020202020204" pitchFamily="34" charset="0"/>
              </a:rPr>
              <a:t>“</a:t>
            </a:r>
            <a:r>
              <a:rPr lang="en-PH" sz="1600" b="1" dirty="0" err="1">
                <a:latin typeface="Century Gothic" panose="020B0502020202020204" pitchFamily="34" charset="0"/>
              </a:rPr>
              <a:t>npx</a:t>
            </a:r>
            <a:r>
              <a:rPr lang="en-PH" sz="1600" b="1" dirty="0">
                <a:latin typeface="Century Gothic" panose="020B0502020202020204" pitchFamily="34" charset="0"/>
              </a:rPr>
              <a:t> expo start”</a:t>
            </a:r>
            <a:r>
              <a:rPr lang="en-PH" sz="1600" dirty="0">
                <a:latin typeface="Century Gothic" panose="020B0502020202020204" pitchFamily="34" charset="0"/>
              </a:rPr>
              <a:t>, then open your Expo Go app and either scan the QR code or enter the URL, wait for it to load then you’ll see a blank app with some text in the middle.</a:t>
            </a:r>
            <a:br>
              <a:rPr lang="en-PH" dirty="0">
                <a:latin typeface="Century Gothic" panose="020B0502020202020204" pitchFamily="34" charset="0"/>
              </a:rPr>
            </a:br>
            <a:br>
              <a:rPr lang="en-PH" dirty="0">
                <a:latin typeface="Century Gothic" panose="020B0502020202020204" pitchFamily="34" charset="0"/>
              </a:rPr>
            </a:br>
            <a:br>
              <a:rPr lang="en-PH" dirty="0">
                <a:latin typeface="Century Gothic" panose="020B0502020202020204" pitchFamily="34" charset="0"/>
              </a:rPr>
            </a:br>
            <a:br>
              <a:rPr lang="en-PH" dirty="0">
                <a:latin typeface="Century Gothic" panose="020B0502020202020204" pitchFamily="34" charset="0"/>
              </a:rPr>
            </a:br>
            <a:endParaRPr lang="en-PH" dirty="0">
              <a:latin typeface="Century Gothic" panose="020B0502020202020204" pitchFamily="34" charset="0"/>
            </a:endParaRPr>
          </a:p>
          <a:p>
            <a:pPr marL="342900" indent="-342900">
              <a:buClrTx/>
              <a:buFont typeface="+mj-lt"/>
              <a:buAutoNum type="arabicPeriod" startAt="6"/>
            </a:pPr>
            <a:endParaRPr lang="en-PH" dirty="0">
              <a:latin typeface="Century Gothic" panose="020B0502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A616E5-6C4D-434D-E095-5F3A2E8AC0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17" r="41233"/>
          <a:stretch/>
        </p:blipFill>
        <p:spPr>
          <a:xfrm>
            <a:off x="100203" y="1536192"/>
            <a:ext cx="4773549" cy="50566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8B0875-49EA-B982-6694-CA2971C0E8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522" b="3640"/>
          <a:stretch/>
        </p:blipFill>
        <p:spPr>
          <a:xfrm>
            <a:off x="5202936" y="1536191"/>
            <a:ext cx="3163824" cy="50566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7C5298F-4AD9-D47D-AB8E-0A014821038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866" b="3866"/>
          <a:stretch/>
        </p:blipFill>
        <p:spPr>
          <a:xfrm>
            <a:off x="8927973" y="1477203"/>
            <a:ext cx="3163824" cy="517461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87513149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22CA29-7FCB-8D10-E877-B8A3F9130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9075" y="828675"/>
            <a:ext cx="11753850" cy="5562600"/>
          </a:xfrm>
        </p:spPr>
        <p:txBody>
          <a:bodyPr/>
          <a:lstStyle/>
          <a:p>
            <a:r>
              <a:rPr lang="en-PH" dirty="0">
                <a:latin typeface="Century Gothic" panose="020B0502020202020204" pitchFamily="34" charset="0"/>
              </a:rPr>
              <a:t>Step 6 will only work if your laptop/computer and smartphone is on the same network(</a:t>
            </a:r>
            <a:r>
              <a:rPr lang="en-PH" dirty="0" err="1">
                <a:latin typeface="Century Gothic" panose="020B0502020202020204" pitchFamily="34" charset="0"/>
              </a:rPr>
              <a:t>Wifi,Wifi</a:t>
            </a:r>
            <a:r>
              <a:rPr lang="en-PH" dirty="0">
                <a:latin typeface="Century Gothic" panose="020B0502020202020204" pitchFamily="34" charset="0"/>
              </a:rPr>
              <a:t>/</a:t>
            </a:r>
            <a:r>
              <a:rPr lang="en-PH" dirty="0" err="1">
                <a:latin typeface="Century Gothic" panose="020B0502020202020204" pitchFamily="34" charset="0"/>
              </a:rPr>
              <a:t>Data,Data</a:t>
            </a:r>
            <a:r>
              <a:rPr lang="en-PH" dirty="0">
                <a:latin typeface="Century Gothic" panose="020B0502020202020204" pitchFamily="34" charset="0"/>
              </a:rPr>
              <a:t>), if not(</a:t>
            </a:r>
            <a:r>
              <a:rPr lang="en-PH" dirty="0" err="1">
                <a:latin typeface="Century Gothic" panose="020B0502020202020204" pitchFamily="34" charset="0"/>
              </a:rPr>
              <a:t>Wifi</a:t>
            </a:r>
            <a:r>
              <a:rPr lang="en-PH" dirty="0">
                <a:latin typeface="Century Gothic" panose="020B0502020202020204" pitchFamily="34" charset="0"/>
              </a:rPr>
              <a:t>/Data) then follow these steps:</a:t>
            </a:r>
          </a:p>
          <a:p>
            <a:pPr marL="342900" indent="-342900">
              <a:buClrTx/>
              <a:buFont typeface="+mj-lt"/>
              <a:buAutoNum type="arabicPeriod"/>
            </a:pPr>
            <a:r>
              <a:rPr lang="en-PH" dirty="0">
                <a:latin typeface="Century Gothic" panose="020B0502020202020204" pitchFamily="34" charset="0"/>
              </a:rPr>
              <a:t>In your terminal in </a:t>
            </a:r>
            <a:r>
              <a:rPr lang="en-PH" dirty="0" err="1">
                <a:latin typeface="Century Gothic" panose="020B0502020202020204" pitchFamily="34" charset="0"/>
              </a:rPr>
              <a:t>VSCode</a:t>
            </a:r>
            <a:r>
              <a:rPr lang="en-PH" dirty="0">
                <a:latin typeface="Century Gothic" panose="020B0502020202020204" pitchFamily="34" charset="0"/>
              </a:rPr>
              <a:t> run </a:t>
            </a:r>
            <a:r>
              <a:rPr lang="en-PH" b="1" dirty="0">
                <a:latin typeface="Century Gothic" panose="020B0502020202020204" pitchFamily="34" charset="0"/>
              </a:rPr>
              <a:t>“</a:t>
            </a:r>
            <a:r>
              <a:rPr lang="en-PH" b="1" dirty="0" err="1">
                <a:latin typeface="Century Gothic" panose="020B0502020202020204" pitchFamily="34" charset="0"/>
              </a:rPr>
              <a:t>npm</a:t>
            </a:r>
            <a:r>
              <a:rPr lang="en-PH" b="1" dirty="0">
                <a:latin typeface="Century Gothic" panose="020B0502020202020204" pitchFamily="34" charset="0"/>
              </a:rPr>
              <a:t> install @expo/ngrok@4.1.0 --save-dev”</a:t>
            </a:r>
            <a:r>
              <a:rPr lang="en-PH" dirty="0">
                <a:latin typeface="Century Gothic" panose="020B0502020202020204" pitchFamily="34" charset="0"/>
              </a:rPr>
              <a:t>.</a:t>
            </a:r>
            <a:endParaRPr lang="en-PH" b="1" dirty="0">
              <a:latin typeface="Century Gothic" panose="020B0502020202020204" pitchFamily="34" charset="0"/>
            </a:endParaRPr>
          </a:p>
          <a:p>
            <a:pPr marL="342900" indent="-342900">
              <a:buClrTx/>
              <a:buFont typeface="+mj-lt"/>
              <a:buAutoNum type="arabicPeriod"/>
            </a:pPr>
            <a:r>
              <a:rPr lang="en-PH" dirty="0">
                <a:latin typeface="Century Gothic" panose="020B0502020202020204" pitchFamily="34" charset="0"/>
              </a:rPr>
              <a:t>Then run </a:t>
            </a:r>
            <a:r>
              <a:rPr lang="en-PH" b="1" dirty="0">
                <a:latin typeface="Century Gothic" panose="020B0502020202020204" pitchFamily="34" charset="0"/>
              </a:rPr>
              <a:t>“</a:t>
            </a:r>
            <a:r>
              <a:rPr lang="en-PH" b="1" dirty="0" err="1">
                <a:latin typeface="Century Gothic" panose="020B0502020202020204" pitchFamily="34" charset="0"/>
              </a:rPr>
              <a:t>npx</a:t>
            </a:r>
            <a:r>
              <a:rPr lang="en-PH" b="1" dirty="0">
                <a:latin typeface="Century Gothic" panose="020B0502020202020204" pitchFamily="34" charset="0"/>
              </a:rPr>
              <a:t> expo start --tunnel”</a:t>
            </a:r>
            <a:r>
              <a:rPr lang="en-PH" dirty="0">
                <a:latin typeface="Century Gothic" panose="020B0502020202020204" pitchFamily="34" charset="0"/>
              </a:rPr>
              <a:t>.</a:t>
            </a:r>
          </a:p>
          <a:p>
            <a:pPr marL="342900" indent="-342900">
              <a:buClrTx/>
              <a:buFont typeface="+mj-lt"/>
              <a:buAutoNum type="arabicPeriod"/>
            </a:pPr>
            <a:r>
              <a:rPr lang="en-PH" dirty="0">
                <a:latin typeface="Century Gothic" panose="020B0502020202020204" pitchFamily="34" charset="0"/>
              </a:rPr>
              <a:t>You will see the QR Code and URL which you can input in your Expo Go app, wait for it to load then you’ll </a:t>
            </a:r>
            <a:r>
              <a:rPr lang="en-PH" sz="1800" dirty="0">
                <a:latin typeface="Century Gothic" panose="020B0502020202020204" pitchFamily="34" charset="0"/>
              </a:rPr>
              <a:t>see a blank app with some text in the middle.</a:t>
            </a:r>
            <a:endParaRPr lang="en-PH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59871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53910-7072-8CE7-81C8-E817C29AD8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dirty="0">
                <a:latin typeface="Century Gothic" panose="020B0502020202020204" pitchFamily="34" charset="0"/>
              </a:rPr>
              <a:t>Offline USB Tethering Alternative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A34CCC-6466-D141-CB4C-3970C84B49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H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50563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52974FA-25A4-B05C-70D7-E75D3239257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32347" y="811530"/>
            <a:ext cx="11923295" cy="5623560"/>
          </a:xfrm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dirty="0">
                <a:latin typeface="Century Gothic" panose="020B0502020202020204" pitchFamily="34" charset="0"/>
              </a:rPr>
              <a:t>Download the standalone </a:t>
            </a:r>
            <a:r>
              <a:rPr lang="en-US" b="1" dirty="0">
                <a:latin typeface="Century Gothic" panose="020B0502020202020204" pitchFamily="34" charset="0"/>
              </a:rPr>
              <a:t>Android SDK Platform-Tools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b="1" dirty="0">
                <a:latin typeface="Century Gothic" panose="020B0502020202020204" pitchFamily="34" charset="0"/>
              </a:rPr>
              <a:t>for Windows </a:t>
            </a:r>
            <a:r>
              <a:rPr lang="en-US" dirty="0">
                <a:latin typeface="Century Gothic" panose="020B0502020202020204" pitchFamily="34" charset="0"/>
              </a:rPr>
              <a:t>from the official </a:t>
            </a:r>
            <a:r>
              <a:rPr lang="en-US" b="1" dirty="0">
                <a:latin typeface="Century Gothic" panose="020B0502020202020204" pitchFamily="34" charset="0"/>
              </a:rPr>
              <a:t>Android Developer website,</a:t>
            </a:r>
            <a:r>
              <a:rPr lang="en-US" dirty="0">
                <a:latin typeface="Century Gothic" panose="020B0502020202020204" pitchFamily="34" charset="0"/>
              </a:rPr>
              <a:t> link is </a:t>
            </a:r>
            <a:r>
              <a:rPr lang="en-US" dirty="0">
                <a:latin typeface="Century Gothic" panose="020B0502020202020204" pitchFamily="34" charset="0"/>
                <a:hlinkClick r:id="rId2"/>
              </a:rPr>
              <a:t>https://developer.android.com/tools/releases/platform-tools</a:t>
            </a:r>
            <a:r>
              <a:rPr lang="en-US" b="1" dirty="0">
                <a:latin typeface="Century Gothic" panose="020B0502020202020204" pitchFamily="34" charset="0"/>
              </a:rPr>
              <a:t>.</a:t>
            </a:r>
          </a:p>
          <a:p>
            <a:pPr marL="800089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Scroll down then look for the option </a:t>
            </a:r>
            <a:r>
              <a:rPr lang="en-US" sz="1800" b="1" dirty="0">
                <a:solidFill>
                  <a:schemeClr val="tx1"/>
                </a:solidFill>
                <a:latin typeface="Century Gothic" panose="020B0502020202020204" pitchFamily="34" charset="0"/>
              </a:rPr>
              <a:t>“Download SDK Platform-Tools for Windows”</a:t>
            </a: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 and click it.</a:t>
            </a:r>
            <a:endParaRPr lang="en-US" sz="1800" b="1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marL="800089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A terms and condition modal will pop up, just scroll down then click the check box “</a:t>
            </a:r>
            <a:r>
              <a:rPr lang="en-US" sz="1800" b="1" dirty="0">
                <a:solidFill>
                  <a:schemeClr val="tx1"/>
                </a:solidFill>
                <a:latin typeface="Century Gothic" panose="020B0502020202020204" pitchFamily="34" charset="0"/>
              </a:rPr>
              <a:t>I have read and agree with the above terms and conditions</a:t>
            </a: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”</a:t>
            </a:r>
          </a:p>
          <a:p>
            <a:pPr marL="800089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Click the button labeled “</a:t>
            </a:r>
            <a:r>
              <a:rPr lang="en-US" sz="1800" b="1" dirty="0">
                <a:solidFill>
                  <a:schemeClr val="tx1"/>
                </a:solidFill>
                <a:latin typeface="Century Gothic" panose="020B0502020202020204" pitchFamily="34" charset="0"/>
              </a:rPr>
              <a:t>Download Android SDK Platform-Tools for Windows” </a:t>
            </a: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to start the download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dirty="0">
                <a:latin typeface="Century Gothic" panose="020B0502020202020204" pitchFamily="34" charset="0"/>
              </a:rPr>
              <a:t>Once downloaded create a folder in your drive C and name it “</a:t>
            </a:r>
            <a:r>
              <a:rPr lang="en-US" b="1" dirty="0">
                <a:latin typeface="Century Gothic" panose="020B0502020202020204" pitchFamily="34" charset="0"/>
              </a:rPr>
              <a:t>Android”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</a:p>
          <a:p>
            <a:pPr marL="800089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Inside the downloaded zip file you will see a folder labeled “</a:t>
            </a:r>
            <a:r>
              <a:rPr lang="en-US" sz="1800" b="1" dirty="0">
                <a:solidFill>
                  <a:schemeClr val="tx1"/>
                </a:solidFill>
                <a:latin typeface="Century Gothic" panose="020B0502020202020204" pitchFamily="34" charset="0"/>
              </a:rPr>
              <a:t>platform-tools</a:t>
            </a: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”, you must extract that folder to your newly created </a:t>
            </a:r>
            <a:r>
              <a:rPr lang="en-US" sz="1800" b="1" dirty="0">
                <a:solidFill>
                  <a:schemeClr val="tx1"/>
                </a:solidFill>
                <a:latin typeface="Century Gothic" panose="020B0502020202020204" pitchFamily="34" charset="0"/>
              </a:rPr>
              <a:t>Android</a:t>
            </a: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 folder, once done the file path should look like this “</a:t>
            </a:r>
            <a:r>
              <a:rPr lang="en-US" sz="1800" b="1" dirty="0">
                <a:solidFill>
                  <a:schemeClr val="tx1"/>
                </a:solidFill>
                <a:latin typeface="Century Gothic" panose="020B0502020202020204" pitchFamily="34" charset="0"/>
              </a:rPr>
              <a:t>C:\Android\platform-tools”.</a:t>
            </a:r>
            <a:endParaRPr lang="en-US" b="1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marL="800089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endParaRPr lang="en-US" b="1" dirty="0">
              <a:latin typeface="Century Gothic" panose="020B0502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endParaRPr lang="en-PH" sz="18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54536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52974FA-25A4-B05C-70D7-E75D3239257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32348" y="811530"/>
            <a:ext cx="6136106" cy="5623560"/>
          </a:xfrm>
        </p:spPr>
        <p:txBody>
          <a:bodyPr/>
          <a:lstStyle/>
          <a:p>
            <a:pPr marL="342900" indent="-342900" algn="just">
              <a:lnSpc>
                <a:spcPct val="100000"/>
              </a:lnSpc>
              <a:buFont typeface="+mj-lt"/>
              <a:buAutoNum type="arabicParenR" startAt="3"/>
            </a:pPr>
            <a:r>
              <a:rPr lang="en-US" dirty="0">
                <a:latin typeface="Century Gothic" panose="020B0502020202020204" pitchFamily="34" charset="0"/>
              </a:rPr>
              <a:t>Press the Windows key, type “</a:t>
            </a:r>
            <a:r>
              <a:rPr lang="en-US" b="1" dirty="0">
                <a:latin typeface="Century Gothic" panose="020B0502020202020204" pitchFamily="34" charset="0"/>
              </a:rPr>
              <a:t>edit the system</a:t>
            </a:r>
            <a:r>
              <a:rPr lang="en-US" dirty="0">
                <a:latin typeface="Century Gothic" panose="020B0502020202020204" pitchFamily="34" charset="0"/>
              </a:rPr>
              <a:t>” and select the “</a:t>
            </a:r>
            <a:r>
              <a:rPr lang="en-US" b="1" dirty="0">
                <a:latin typeface="Century Gothic" panose="020B0502020202020204" pitchFamily="34" charset="0"/>
              </a:rPr>
              <a:t>Edit the system environment variables”</a:t>
            </a:r>
            <a:endParaRPr lang="en-US" dirty="0">
              <a:latin typeface="Century Gothic" panose="020B0502020202020204" pitchFamily="34" charset="0"/>
            </a:endParaRPr>
          </a:p>
          <a:p>
            <a:pPr marL="342900" indent="-342900" algn="just">
              <a:lnSpc>
                <a:spcPct val="100000"/>
              </a:lnSpc>
              <a:buFont typeface="+mj-lt"/>
              <a:buAutoNum type="arabicParenR" startAt="3"/>
            </a:pPr>
            <a:r>
              <a:rPr lang="en-US" dirty="0">
                <a:latin typeface="Century Gothic" panose="020B0502020202020204" pitchFamily="34" charset="0"/>
              </a:rPr>
              <a:t> Click “</a:t>
            </a:r>
            <a:r>
              <a:rPr lang="en-US" b="1" dirty="0">
                <a:latin typeface="Century Gothic" panose="020B0502020202020204" pitchFamily="34" charset="0"/>
              </a:rPr>
              <a:t>Environment Variables” </a:t>
            </a:r>
            <a:r>
              <a:rPr lang="en-US" dirty="0">
                <a:latin typeface="Century Gothic" panose="020B0502020202020204" pitchFamily="34" charset="0"/>
              </a:rPr>
              <a:t>button at the bottom right and you’ll see User variables and System variables boxes</a:t>
            </a:r>
          </a:p>
          <a:p>
            <a:pPr marL="342900" indent="-342900" algn="just">
              <a:lnSpc>
                <a:spcPct val="100000"/>
              </a:lnSpc>
              <a:buFont typeface="+mj-lt"/>
              <a:buAutoNum type="arabicParenR" startAt="5"/>
            </a:pPr>
            <a:r>
              <a:rPr lang="en-US" dirty="0">
                <a:latin typeface="Century Gothic" panose="020B0502020202020204" pitchFamily="34" charset="0"/>
              </a:rPr>
              <a:t>Under user variables click “</a:t>
            </a:r>
            <a:r>
              <a:rPr lang="en-US" b="1" dirty="0">
                <a:latin typeface="Century Gothic" panose="020B0502020202020204" pitchFamily="34" charset="0"/>
              </a:rPr>
              <a:t>New</a:t>
            </a:r>
            <a:r>
              <a:rPr lang="en-US" dirty="0">
                <a:latin typeface="Century Gothic" panose="020B0502020202020204" pitchFamily="34" charset="0"/>
              </a:rPr>
              <a:t>”</a:t>
            </a:r>
          </a:p>
          <a:p>
            <a:pPr marL="800089" lvl="1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Input in Variable name  “</a:t>
            </a:r>
            <a:r>
              <a:rPr lang="en-US" sz="1800" b="1" dirty="0">
                <a:solidFill>
                  <a:schemeClr val="tx1"/>
                </a:solidFill>
                <a:latin typeface="Century Gothic" panose="020B0502020202020204" pitchFamily="34" charset="0"/>
              </a:rPr>
              <a:t>ANDROID_HOME”</a:t>
            </a:r>
          </a:p>
          <a:p>
            <a:pPr marL="800089" lvl="1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Input in Variable value  “</a:t>
            </a:r>
            <a:r>
              <a:rPr lang="en-US" sz="1800" b="1" dirty="0">
                <a:solidFill>
                  <a:schemeClr val="tx1"/>
                </a:solidFill>
                <a:latin typeface="Century Gothic" panose="020B0502020202020204" pitchFamily="34" charset="0"/>
              </a:rPr>
              <a:t>C:\Android”</a:t>
            </a:r>
          </a:p>
          <a:p>
            <a:pPr marL="800089" lvl="1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Click “</a:t>
            </a:r>
            <a:r>
              <a:rPr lang="en-US" sz="1800" b="1" dirty="0">
                <a:solidFill>
                  <a:schemeClr val="tx1"/>
                </a:solidFill>
                <a:latin typeface="Century Gothic" panose="020B0502020202020204" pitchFamily="34" charset="0"/>
              </a:rPr>
              <a:t>Ok</a:t>
            </a: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”</a:t>
            </a:r>
          </a:p>
          <a:p>
            <a:pPr marL="342900" indent="-342900" algn="just">
              <a:lnSpc>
                <a:spcPct val="100000"/>
              </a:lnSpc>
              <a:buFont typeface="+mj-lt"/>
              <a:buAutoNum type="arabicParenR" startAt="6"/>
            </a:pPr>
            <a:r>
              <a:rPr lang="en-US" dirty="0">
                <a:latin typeface="Century Gothic" panose="020B0502020202020204" pitchFamily="34" charset="0"/>
              </a:rPr>
              <a:t>Under System variables find “</a:t>
            </a:r>
            <a:r>
              <a:rPr lang="en-US" b="1" dirty="0">
                <a:latin typeface="Century Gothic" panose="020B0502020202020204" pitchFamily="34" charset="0"/>
              </a:rPr>
              <a:t>Path”</a:t>
            </a:r>
            <a:r>
              <a:rPr lang="en-US" dirty="0">
                <a:latin typeface="Century Gothic" panose="020B0502020202020204" pitchFamily="34" charset="0"/>
              </a:rPr>
              <a:t> then select it then click “</a:t>
            </a:r>
            <a:r>
              <a:rPr lang="en-US" b="1" dirty="0">
                <a:latin typeface="Century Gothic" panose="020B0502020202020204" pitchFamily="34" charset="0"/>
              </a:rPr>
              <a:t>Edit”</a:t>
            </a:r>
            <a:r>
              <a:rPr lang="en-US" dirty="0">
                <a:latin typeface="Century Gothic" panose="020B0502020202020204" pitchFamily="34" charset="0"/>
              </a:rPr>
              <a:t> button</a:t>
            </a:r>
          </a:p>
          <a:p>
            <a:pPr marL="800089" lvl="1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Click “</a:t>
            </a:r>
            <a:r>
              <a:rPr lang="en-US" sz="1800" b="1" dirty="0">
                <a:solidFill>
                  <a:schemeClr val="tx1"/>
                </a:solidFill>
                <a:latin typeface="Century Gothic" panose="020B0502020202020204" pitchFamily="34" charset="0"/>
              </a:rPr>
              <a:t>New” </a:t>
            </a: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then copy and paste this “</a:t>
            </a:r>
            <a:r>
              <a:rPr lang="en-US" sz="1800" b="1" dirty="0">
                <a:solidFill>
                  <a:schemeClr val="tx1"/>
                </a:solidFill>
                <a:latin typeface="Century Gothic" panose="020B0502020202020204" pitchFamily="34" charset="0"/>
              </a:rPr>
              <a:t>C:\Android\platform-tools</a:t>
            </a: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” </a:t>
            </a:r>
          </a:p>
          <a:p>
            <a:pPr marL="342900" indent="-342900" algn="just">
              <a:lnSpc>
                <a:spcPct val="100000"/>
              </a:lnSpc>
              <a:buFont typeface="+mj-lt"/>
              <a:buAutoNum type="arabicParenR" startAt="7"/>
            </a:pPr>
            <a:r>
              <a:rPr lang="en-US" dirty="0">
                <a:solidFill>
                  <a:schemeClr val="tx1"/>
                </a:solidFill>
                <a:latin typeface="Century Gothic" panose="020B0502020202020204" pitchFamily="34" charset="0"/>
              </a:rPr>
              <a:t>Click “</a:t>
            </a:r>
            <a:r>
              <a:rPr lang="en-US" b="1" dirty="0">
                <a:solidFill>
                  <a:schemeClr val="tx1"/>
                </a:solidFill>
                <a:latin typeface="Century Gothic" panose="020B0502020202020204" pitchFamily="34" charset="0"/>
              </a:rPr>
              <a:t>Ok” </a:t>
            </a:r>
            <a:r>
              <a:rPr lang="en-US" dirty="0">
                <a:solidFill>
                  <a:schemeClr val="tx1"/>
                </a:solidFill>
                <a:latin typeface="Century Gothic" panose="020B0502020202020204" pitchFamily="34" charset="0"/>
              </a:rPr>
              <a:t>on all windows to save </a:t>
            </a:r>
          </a:p>
          <a:p>
            <a:pPr marL="342900" indent="-342900" algn="just">
              <a:lnSpc>
                <a:spcPct val="100000"/>
              </a:lnSpc>
              <a:buFont typeface="+mj-lt"/>
              <a:buAutoNum type="arabicParenR" startAt="7"/>
            </a:pPr>
            <a:r>
              <a:rPr lang="en-US" dirty="0">
                <a:latin typeface="Century Gothic" panose="020B0502020202020204" pitchFamily="34" charset="0"/>
              </a:rPr>
              <a:t>Restart Visual Studio Code</a:t>
            </a:r>
            <a:endParaRPr lang="en-US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marL="342900" indent="-342900" algn="just">
              <a:lnSpc>
                <a:spcPct val="100000"/>
              </a:lnSpc>
              <a:buFont typeface="+mj-lt"/>
              <a:buAutoNum type="arabicParenR" startAt="3"/>
            </a:pPr>
            <a:endParaRPr lang="en-PH" dirty="0">
              <a:latin typeface="Century Gothic" panose="020B0502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70BBE3-67FD-4E65-19DF-F9BCD3889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454" y="170994"/>
            <a:ext cx="5849166" cy="550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112084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52974FA-25A4-B05C-70D7-E75D3239257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66928" y="811530"/>
            <a:ext cx="5930125" cy="5623560"/>
          </a:xfrm>
        </p:spPr>
        <p:txBody>
          <a:bodyPr/>
          <a:lstStyle/>
          <a:p>
            <a:pPr marL="342900" indent="-342900" algn="just">
              <a:lnSpc>
                <a:spcPct val="100000"/>
              </a:lnSpc>
              <a:buFont typeface="+mj-lt"/>
              <a:buAutoNum type="arabicParenR"/>
            </a:pPr>
            <a:r>
              <a:rPr lang="en-US" b="1" dirty="0">
                <a:latin typeface="Century Gothic" panose="020B0502020202020204" pitchFamily="34" charset="0"/>
              </a:rPr>
              <a:t>On Your Android Phone</a:t>
            </a:r>
          </a:p>
          <a:p>
            <a:pPr marL="800089" lvl="1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Century Gothic" panose="020B0502020202020204" pitchFamily="34" charset="0"/>
              </a:rPr>
              <a:t>Developer Options</a:t>
            </a: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: Go to Settings &gt; About Phone &gt; Tap Build Number 7 times.</a:t>
            </a:r>
          </a:p>
          <a:p>
            <a:pPr marL="800089" lvl="1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Century Gothic" panose="020B0502020202020204" pitchFamily="34" charset="0"/>
              </a:rPr>
              <a:t>USB Debugging</a:t>
            </a: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: Go to Settings &gt; System &gt; Developer Options &gt; Turn on USB Debugging.</a:t>
            </a:r>
          </a:p>
          <a:p>
            <a:pPr marL="800089" lvl="1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Century Gothic" panose="020B0502020202020204" pitchFamily="34" charset="0"/>
              </a:rPr>
              <a:t>USB Tethering</a:t>
            </a: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: Go to Settings &gt; Network &amp; Internet (or Connection &amp; Sharing) &gt; Hotspot &amp; Tethering &gt; Turn on USB Tethering.</a:t>
            </a:r>
          </a:p>
          <a:p>
            <a:pPr marL="342900" indent="-342900" algn="just">
              <a:lnSpc>
                <a:spcPct val="100000"/>
              </a:lnSpc>
              <a:buFont typeface="+mj-lt"/>
              <a:buAutoNum type="arabicParenR"/>
            </a:pPr>
            <a:r>
              <a:rPr lang="en-US" b="1" dirty="0">
                <a:latin typeface="Century Gothic" panose="020B0502020202020204" pitchFamily="34" charset="0"/>
              </a:rPr>
              <a:t>On Your Windows Laptop</a:t>
            </a:r>
          </a:p>
          <a:p>
            <a:pPr marL="800089" lvl="1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Press windows key then type “</a:t>
            </a:r>
            <a:r>
              <a:rPr lang="en-US" sz="1800" b="1" dirty="0">
                <a:solidFill>
                  <a:schemeClr val="tx1"/>
                </a:solidFill>
                <a:latin typeface="Century Gothic" panose="020B0502020202020204" pitchFamily="34" charset="0"/>
              </a:rPr>
              <a:t>allow an app”</a:t>
            </a: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 then select “</a:t>
            </a:r>
            <a:r>
              <a:rPr lang="en-US" sz="1800" b="1" dirty="0">
                <a:solidFill>
                  <a:schemeClr val="tx1"/>
                </a:solidFill>
                <a:latin typeface="Century Gothic" panose="020B0502020202020204" pitchFamily="34" charset="0"/>
              </a:rPr>
              <a:t>Allow an app through windows firewall”</a:t>
            </a:r>
          </a:p>
          <a:p>
            <a:pPr marL="800089" lvl="1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Make sure both </a:t>
            </a:r>
            <a:r>
              <a:rPr lang="en-US" sz="1800" b="1" dirty="0">
                <a:solidFill>
                  <a:schemeClr val="tx1"/>
                </a:solidFill>
                <a:latin typeface="Century Gothic" panose="020B0502020202020204" pitchFamily="34" charset="0"/>
              </a:rPr>
              <a:t>Private </a:t>
            </a: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and </a:t>
            </a:r>
            <a:r>
              <a:rPr lang="en-US" sz="1800" b="1" dirty="0">
                <a:solidFill>
                  <a:schemeClr val="tx1"/>
                </a:solidFill>
                <a:latin typeface="Century Gothic" panose="020B0502020202020204" pitchFamily="34" charset="0"/>
              </a:rPr>
              <a:t>Public</a:t>
            </a: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 boxes are </a:t>
            </a:r>
            <a:r>
              <a:rPr lang="en-US" sz="18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chek</a:t>
            </a: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 for Node.js</a:t>
            </a:r>
            <a:endParaRPr lang="en-PH" sz="18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8DAB62-9BC6-B09C-C852-9D1ED1E49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0518" y="811530"/>
            <a:ext cx="5601482" cy="504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460796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52974FA-25A4-B05C-70D7-E75D3239257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32347" y="811530"/>
            <a:ext cx="11923295" cy="5623560"/>
          </a:xfrm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dirty="0">
                <a:latin typeface="Century Gothic" panose="020B0502020202020204" pitchFamily="34" charset="0"/>
              </a:rPr>
              <a:t>Connect your phone to your laptop using your USB cable, then turn on </a:t>
            </a:r>
            <a:r>
              <a:rPr lang="en-US" b="1" dirty="0">
                <a:latin typeface="Century Gothic" panose="020B0502020202020204" pitchFamily="34" charset="0"/>
              </a:rPr>
              <a:t>USB Tethering </a:t>
            </a:r>
            <a:r>
              <a:rPr lang="en-US" dirty="0">
                <a:latin typeface="Century Gothic" panose="020B0502020202020204" pitchFamily="34" charset="0"/>
              </a:rPr>
              <a:t>in your phone's settings.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sz="1800" dirty="0">
                <a:latin typeface="Century Gothic" panose="020B0502020202020204" pitchFamily="34" charset="0"/>
              </a:rPr>
              <a:t>Open your project folder in </a:t>
            </a:r>
            <a:r>
              <a:rPr lang="en-US" sz="1800" b="1" dirty="0">
                <a:latin typeface="Century Gothic" panose="020B0502020202020204" pitchFamily="34" charset="0"/>
              </a:rPr>
              <a:t>VS Code, </a:t>
            </a:r>
            <a:r>
              <a:rPr lang="en-US" sz="1800" dirty="0">
                <a:latin typeface="Century Gothic" panose="020B0502020202020204" pitchFamily="34" charset="0"/>
              </a:rPr>
              <a:t>open the terminal, then input “</a:t>
            </a:r>
            <a:r>
              <a:rPr lang="en-PH" dirty="0" err="1">
                <a:latin typeface="Century Gothic" panose="020B0502020202020204" pitchFamily="34" charset="0"/>
              </a:rPr>
              <a:t>npx</a:t>
            </a:r>
            <a:r>
              <a:rPr lang="en-PH" dirty="0">
                <a:latin typeface="Century Gothic" panose="020B0502020202020204" pitchFamily="34" charset="0"/>
              </a:rPr>
              <a:t> expo start </a:t>
            </a:r>
            <a:r>
              <a:rPr lang="en-PH" dirty="0"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en-PH" dirty="0" err="1">
                <a:latin typeface="Century Gothic" panose="020B0502020202020204" pitchFamily="34" charset="0"/>
              </a:rPr>
              <a:t>lan</a:t>
            </a:r>
            <a:r>
              <a:rPr lang="en-PH" b="1" dirty="0">
                <a:latin typeface="Century Gothic" panose="020B0502020202020204" pitchFamily="34" charset="0"/>
              </a:rPr>
              <a:t>”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PH" dirty="0">
                <a:latin typeface="Century Gothic" panose="020B0502020202020204" pitchFamily="34" charset="0"/>
              </a:rPr>
              <a:t>Open </a:t>
            </a:r>
            <a:r>
              <a:rPr lang="en-PH" b="1" dirty="0">
                <a:latin typeface="Century Gothic" panose="020B0502020202020204" pitchFamily="34" charset="0"/>
              </a:rPr>
              <a:t>Expo Go</a:t>
            </a:r>
            <a:r>
              <a:rPr lang="en-PH" dirty="0">
                <a:latin typeface="Century Gothic" panose="020B0502020202020204" pitchFamily="34" charset="0"/>
              </a:rPr>
              <a:t> application, scan the QR code or input the URL from the terminal.</a:t>
            </a:r>
          </a:p>
          <a:p>
            <a:pPr algn="just">
              <a:lnSpc>
                <a:spcPct val="150000"/>
              </a:lnSpc>
            </a:pPr>
            <a:endParaRPr lang="en-PH" sz="1800" dirty="0">
              <a:latin typeface="Century Gothic" panose="020B0502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PH" sz="1800" dirty="0">
              <a:latin typeface="Century Gothic" panose="020B0502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D07E6C1-128C-B431-46CD-A54CA96BEC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871396"/>
              </p:ext>
            </p:extLst>
          </p:nvPr>
        </p:nvGraphicFramePr>
        <p:xfrm>
          <a:off x="132347" y="3227678"/>
          <a:ext cx="11609220" cy="3244690"/>
        </p:xfrm>
        <a:graphic>
          <a:graphicData uri="http://schemas.openxmlformats.org/drawingml/2006/table">
            <a:tbl>
              <a:tblPr/>
              <a:tblGrid>
                <a:gridCol w="3869740">
                  <a:extLst>
                    <a:ext uri="{9D8B030D-6E8A-4147-A177-3AD203B41FA5}">
                      <a16:colId xmlns:a16="http://schemas.microsoft.com/office/drawing/2014/main" val="4044853376"/>
                    </a:ext>
                  </a:extLst>
                </a:gridCol>
                <a:gridCol w="3869740">
                  <a:extLst>
                    <a:ext uri="{9D8B030D-6E8A-4147-A177-3AD203B41FA5}">
                      <a16:colId xmlns:a16="http://schemas.microsoft.com/office/drawing/2014/main" val="2905429554"/>
                    </a:ext>
                  </a:extLst>
                </a:gridCol>
                <a:gridCol w="3869740">
                  <a:extLst>
                    <a:ext uri="{9D8B030D-6E8A-4147-A177-3AD203B41FA5}">
                      <a16:colId xmlns:a16="http://schemas.microsoft.com/office/drawing/2014/main" val="1615309395"/>
                    </a:ext>
                  </a:extLst>
                </a:gridCol>
              </a:tblGrid>
              <a:tr h="547297">
                <a:tc>
                  <a:txBody>
                    <a:bodyPr/>
                    <a:lstStyle/>
                    <a:p>
                      <a:r>
                        <a:rPr lang="en-PH" b="1" dirty="0">
                          <a:effectLst/>
                          <a:latin typeface="Century Gothic" panose="020B0502020202020204" pitchFamily="34" charset="0"/>
                        </a:rPr>
                        <a:t>Command</a:t>
                      </a:r>
                      <a:endParaRPr lang="en-PH" dirty="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H" b="1">
                          <a:effectLst/>
                          <a:latin typeface="Century Gothic" panose="020B0502020202020204" pitchFamily="34" charset="0"/>
                        </a:rPr>
                        <a:t>Purpose</a:t>
                      </a:r>
                      <a:endParaRPr lang="en-PH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H" b="1">
                          <a:effectLst/>
                          <a:latin typeface="Century Gothic" panose="020B0502020202020204" pitchFamily="34" charset="0"/>
                        </a:rPr>
                        <a:t>Expected Result</a:t>
                      </a:r>
                      <a:endParaRPr lang="en-PH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3166336"/>
                  </a:ext>
                </a:extLst>
              </a:tr>
              <a:tr h="899131">
                <a:tc>
                  <a:txBody>
                    <a:bodyPr/>
                    <a:lstStyle/>
                    <a:p>
                      <a:r>
                        <a:rPr lang="en-PH" dirty="0" err="1">
                          <a:effectLst/>
                          <a:latin typeface="Century Gothic" panose="020B0502020202020204" pitchFamily="34" charset="0"/>
                        </a:rPr>
                        <a:t>adb</a:t>
                      </a:r>
                      <a:r>
                        <a:rPr lang="en-PH" dirty="0">
                          <a:effectLst/>
                          <a:latin typeface="Century Gothic" panose="020B0502020202020204" pitchFamily="34" charset="0"/>
                        </a:rPr>
                        <a:t> devices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entury Gothic" panose="020B0502020202020204" pitchFamily="34" charset="0"/>
                        </a:rPr>
                        <a:t>Checks if your phone is recognized by your PC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entury Gothic" panose="020B0502020202020204" pitchFamily="34" charset="0"/>
                        </a:rPr>
                        <a:t>Displays your device ID followed by device.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3549961"/>
                  </a:ext>
                </a:extLst>
              </a:tr>
              <a:tr h="899131">
                <a:tc>
                  <a:txBody>
                    <a:bodyPr/>
                    <a:lstStyle/>
                    <a:p>
                      <a:r>
                        <a:rPr lang="en-PH" dirty="0" err="1">
                          <a:effectLst/>
                          <a:latin typeface="Century Gothic" panose="020B0502020202020204" pitchFamily="34" charset="0"/>
                        </a:rPr>
                        <a:t>npx</a:t>
                      </a:r>
                      <a:r>
                        <a:rPr lang="en-PH" dirty="0">
                          <a:effectLst/>
                          <a:latin typeface="Century Gothic" panose="020B0502020202020204" pitchFamily="34" charset="0"/>
                        </a:rPr>
                        <a:t> expo start </a:t>
                      </a:r>
                      <a:r>
                        <a:rPr lang="en-PH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--</a:t>
                      </a:r>
                      <a:r>
                        <a:rPr lang="en-PH" dirty="0" err="1">
                          <a:effectLst/>
                          <a:latin typeface="Century Gothic" panose="020B0502020202020204" pitchFamily="34" charset="0"/>
                        </a:rPr>
                        <a:t>lan</a:t>
                      </a:r>
                      <a:endParaRPr lang="en-PH" dirty="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entury Gothic" panose="020B0502020202020204" pitchFamily="34" charset="0"/>
                        </a:rPr>
                        <a:t>Starts Expo server bound to your USB tether network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entury Gothic" panose="020B0502020202020204" pitchFamily="34" charset="0"/>
                        </a:rPr>
                        <a:t>Outputs a LAN URL (exp://192.168.x.x:8081).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4873390"/>
                  </a:ext>
                </a:extLst>
              </a:tr>
              <a:tr h="899131">
                <a:tc>
                  <a:txBody>
                    <a:bodyPr/>
                    <a:lstStyle/>
                    <a:p>
                      <a:r>
                        <a:rPr lang="en-US" dirty="0" err="1">
                          <a:effectLst/>
                          <a:latin typeface="Century Gothic" panose="020B0502020202020204" pitchFamily="34" charset="0"/>
                        </a:rPr>
                        <a:t>npx</a:t>
                      </a:r>
                      <a:r>
                        <a:rPr lang="en-US" dirty="0">
                          <a:effectLst/>
                          <a:latin typeface="Century Gothic" panose="020B0502020202020204" pitchFamily="34" charset="0"/>
                        </a:rPr>
                        <a:t> expo start </a:t>
                      </a:r>
                      <a:r>
                        <a:rPr lang="en-PH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--</a:t>
                      </a:r>
                      <a:r>
                        <a:rPr lang="en-US" dirty="0" err="1">
                          <a:effectLst/>
                          <a:latin typeface="Century Gothic" panose="020B0502020202020204" pitchFamily="34" charset="0"/>
                        </a:rPr>
                        <a:t>lan</a:t>
                      </a:r>
                      <a:r>
                        <a:rPr lang="en-US" dirty="0">
                          <a:effectLst/>
                          <a:latin typeface="Century Gothic" panose="020B0502020202020204" pitchFamily="34" charset="0"/>
                        </a:rPr>
                        <a:t> -c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entury Gothic" panose="020B0502020202020204" pitchFamily="34" charset="0"/>
                        </a:rPr>
                        <a:t>Clears Metro bundler cache if updates fail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Century Gothic" panose="020B0502020202020204" pitchFamily="34" charset="0"/>
                        </a:rPr>
                        <a:t>Rebuilds JavaScript bundle from scratch.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009414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8BC3B70C-69FC-6516-31E2-A5FA9A266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347" y="2774900"/>
            <a:ext cx="366837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Useful Diagnostic Commands</a:t>
            </a:r>
          </a:p>
        </p:txBody>
      </p:sp>
    </p:spTree>
    <p:extLst>
      <p:ext uri="{BB962C8B-B14F-4D97-AF65-F5344CB8AC3E}">
        <p14:creationId xmlns:p14="http://schemas.microsoft.com/office/powerpoint/2010/main" val="2759193379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22CA29-7FCB-8D10-E877-B8A3F9130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9075" y="828675"/>
            <a:ext cx="7494477" cy="5562600"/>
          </a:xfrm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App.js: The entry point of your application and the root functional component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assets/: The directory for static visual resources like images, app icons, and fonts.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latin typeface="Century Gothic" panose="020B0502020202020204" pitchFamily="34" charset="0"/>
              </a:rPr>
              <a:t>package.json</a:t>
            </a:r>
            <a:r>
              <a:rPr lang="en-US" dirty="0">
                <a:latin typeface="Century Gothic" panose="020B0502020202020204" pitchFamily="34" charset="0"/>
              </a:rPr>
              <a:t>: The configuration file that tracks your project's dependencies (like Expo and React Native versions).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latin typeface="Century Gothic" panose="020B0502020202020204" pitchFamily="34" charset="0"/>
              </a:rPr>
              <a:t>node_modules</a:t>
            </a:r>
            <a:r>
              <a:rPr lang="en-US" dirty="0">
                <a:latin typeface="Century Gothic" panose="020B0502020202020204" pitchFamily="34" charset="0"/>
              </a:rPr>
              <a:t>/: The folder where all downloaded packages live (</a:t>
            </a:r>
            <a:r>
              <a:rPr lang="en-US" dirty="0">
                <a:solidFill>
                  <a:srgbClr val="FF0000"/>
                </a:solidFill>
                <a:latin typeface="Century Gothic" panose="020B0502020202020204" pitchFamily="34" charset="0"/>
              </a:rPr>
              <a:t>NEVER MANUALLY EDIT FILES INSIDE THIS FOLDER!!!</a:t>
            </a:r>
            <a:r>
              <a:rPr lang="en-US" dirty="0">
                <a:latin typeface="Century Gothic" panose="020B0502020202020204" pitchFamily="34" charset="0"/>
              </a:rPr>
              <a:t>).</a:t>
            </a:r>
            <a:endParaRPr lang="en-PH" dirty="0">
              <a:latin typeface="Century Gothic" panose="020B0502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BECC87-317D-FEB5-93A4-0DDCD59A6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186" y="0"/>
            <a:ext cx="3468739" cy="674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060417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22CA29-7FCB-8D10-E877-B8A3F9130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9075" y="828675"/>
            <a:ext cx="6190869" cy="5562600"/>
          </a:xfrm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Century Gothic" panose="020B0502020202020204" pitchFamily="34" charset="0"/>
              </a:rPr>
              <a:t>The Imports (Lines 1-2): </a:t>
            </a:r>
            <a:r>
              <a:rPr lang="en-US" dirty="0">
                <a:latin typeface="Century Gothic" panose="020B0502020202020204" pitchFamily="34" charset="0"/>
              </a:rPr>
              <a:t>ES modules pulling in core UI components (View, Text) and APIs (</a:t>
            </a:r>
            <a:r>
              <a:rPr lang="en-US" dirty="0" err="1">
                <a:latin typeface="Century Gothic" panose="020B0502020202020204" pitchFamily="34" charset="0"/>
              </a:rPr>
              <a:t>StyleSheet</a:t>
            </a:r>
            <a:r>
              <a:rPr lang="en-US" dirty="0">
                <a:latin typeface="Century Gothic" panose="020B0502020202020204" pitchFamily="34" charset="0"/>
              </a:rPr>
              <a:t>) from the 'react-native' library.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Century Gothic" panose="020B0502020202020204" pitchFamily="34" charset="0"/>
              </a:rPr>
              <a:t>The Component Function (Lines 4-11): </a:t>
            </a:r>
            <a:r>
              <a:rPr lang="en-US" dirty="0">
                <a:latin typeface="Century Gothic" panose="020B0502020202020204" pitchFamily="34" charset="0"/>
              </a:rPr>
              <a:t>A standard JavaScript function exported by default so Expo can render it. Can also be written as an ES6 Arrow Function const App = () =&gt; {).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Century Gothic" panose="020B0502020202020204" pitchFamily="34" charset="0"/>
              </a:rPr>
              <a:t>The JSX Return (Lines 5-10): </a:t>
            </a:r>
            <a:r>
              <a:rPr lang="en-US" dirty="0">
                <a:latin typeface="Century Gothic" panose="020B0502020202020204" pitchFamily="34" charset="0"/>
              </a:rPr>
              <a:t>The declarative UI layout. Emphasize the golden rule of JSX: it must return exactly one parent element (in this case, the wrapper &lt;View&gt;).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Century Gothic" panose="020B0502020202020204" pitchFamily="34" charset="0"/>
              </a:rPr>
              <a:t>The </a:t>
            </a:r>
            <a:r>
              <a:rPr lang="en-US" b="1" dirty="0" err="1">
                <a:latin typeface="Century Gothic" panose="020B0502020202020204" pitchFamily="34" charset="0"/>
              </a:rPr>
              <a:t>StyleSheet</a:t>
            </a:r>
            <a:r>
              <a:rPr lang="en-US" b="1" dirty="0">
                <a:latin typeface="Century Gothic" panose="020B0502020202020204" pitchFamily="34" charset="0"/>
              </a:rPr>
              <a:t> (Lines 13-20): </a:t>
            </a:r>
            <a:r>
              <a:rPr lang="en-US" dirty="0">
                <a:latin typeface="Century Gothic" panose="020B0502020202020204" pitchFamily="34" charset="0"/>
              </a:rPr>
              <a:t>A JavaScript object defining the layout using Flexbox and camelCase properties.</a:t>
            </a:r>
            <a:endParaRPr lang="en-PH" dirty="0">
              <a:latin typeface="Century Gothic" panose="020B0502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14B5DC-26BF-3BC3-8F73-4F1620176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828674"/>
            <a:ext cx="5613041" cy="4738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364393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3AEA0E-6FA0-883F-3D8A-12C1DCBB67A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66928" y="2185416"/>
            <a:ext cx="5529072" cy="351140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dirty="0">
                <a:latin typeface="Century Gothic" panose="020B0502020202020204" pitchFamily="34" charset="0"/>
                <a:hlinkClick r:id="rId2"/>
              </a:rPr>
              <a:t>Introduction · React Native</a:t>
            </a:r>
            <a:endParaRPr lang="en-PH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dirty="0">
                <a:latin typeface="Century Gothic" panose="020B0502020202020204" pitchFamily="34" charset="0"/>
                <a:hlinkClick r:id="rId3"/>
              </a:rPr>
              <a:t>Quick Start – React</a:t>
            </a:r>
            <a:endParaRPr lang="en-PH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dirty="0">
                <a:latin typeface="Century Gothic" panose="020B0502020202020204" pitchFamily="34" charset="0"/>
                <a:hlinkClick r:id="rId4"/>
              </a:rPr>
              <a:t>MDN Web Docs</a:t>
            </a:r>
            <a:endParaRPr lang="en-PH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dirty="0">
                <a:latin typeface="Century Gothic" panose="020B0502020202020204" pitchFamily="34" charset="0"/>
                <a:hlinkClick r:id="rId5"/>
              </a:rPr>
              <a:t>React Navigation</a:t>
            </a:r>
            <a:endParaRPr lang="en-PH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dirty="0">
                <a:latin typeface="Century Gothic" panose="020B0502020202020204" pitchFamily="34" charset="0"/>
                <a:hlinkClick r:id="rId6"/>
              </a:rPr>
              <a:t>Expo Documentation</a:t>
            </a:r>
            <a:endParaRPr lang="en-PH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  <a:hlinkClick r:id="rId7"/>
              </a:rPr>
              <a:t>Flexbox Froggy - A game for learning CSS flexbox</a:t>
            </a:r>
            <a:endParaRPr lang="en-PH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dirty="0">
                <a:latin typeface="Century Gothic" panose="020B0502020202020204" pitchFamily="34" charset="0"/>
                <a:hlinkClick r:id="rId8"/>
              </a:rPr>
              <a:t>Flexbox Labs</a:t>
            </a:r>
            <a:endParaRPr lang="en-PH" dirty="0">
              <a:latin typeface="Century Gothic" panose="020B0502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6FFD87-919F-6198-59A5-CFCAFE8C8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468" y="1320800"/>
            <a:ext cx="6387144" cy="716084"/>
          </a:xfrm>
        </p:spPr>
        <p:txBody>
          <a:bodyPr/>
          <a:lstStyle/>
          <a:p>
            <a:r>
              <a:rPr lang="en-PH" dirty="0">
                <a:latin typeface="Century Gothic" panose="020B0502020202020204" pitchFamily="34" charset="0"/>
              </a:rPr>
              <a:t>ADDITIONAL REFERENCES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D7498C-679F-516A-0722-A51152B663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18094" y="1570720"/>
            <a:ext cx="3504438" cy="46725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D09B42-0971-131A-C325-80DDBEFA1826}"/>
              </a:ext>
            </a:extLst>
          </p:cNvPr>
          <p:cNvSpPr txBox="1"/>
          <p:nvPr/>
        </p:nvSpPr>
        <p:spPr>
          <a:xfrm>
            <a:off x="8153597" y="968721"/>
            <a:ext cx="3433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dirty="0">
                <a:latin typeface="Century Gothic" panose="020B0502020202020204" pitchFamily="34" charset="0"/>
              </a:rPr>
              <a:t>ROADMAP</a:t>
            </a:r>
          </a:p>
        </p:txBody>
      </p:sp>
    </p:spTree>
    <p:extLst>
      <p:ext uri="{BB962C8B-B14F-4D97-AF65-F5344CB8AC3E}">
        <p14:creationId xmlns:p14="http://schemas.microsoft.com/office/powerpoint/2010/main" val="2395876052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UB Powerpoint Templat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45531</TotalTime>
  <Words>1040</Words>
  <Application>Microsoft Office PowerPoint</Application>
  <PresentationFormat>Widescreen</PresentationFormat>
  <Paragraphs>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Century Gothic</vt:lpstr>
      <vt:lpstr>Courier New</vt:lpstr>
      <vt:lpstr>Georgia</vt:lpstr>
      <vt:lpstr>LucidaGrande</vt:lpstr>
      <vt:lpstr>UB Powerpoint Template</vt:lpstr>
      <vt:lpstr>Anatomy of a React Native functional component</vt:lpstr>
      <vt:lpstr>Setup guide</vt:lpstr>
      <vt:lpstr>PowerPoint Presentation</vt:lpstr>
      <vt:lpstr>PowerPoint Presentation</vt:lpstr>
      <vt:lpstr>PowerPoint Presentation</vt:lpstr>
      <vt:lpstr>Offline USB Tethering Alternative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ADDITIONAL REFERENCES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NwSSU PPT Green Template</dc:title>
  <dc:creator>raa</dc:creator>
  <cp:lastModifiedBy>YuoRitz</cp:lastModifiedBy>
  <cp:revision>776</cp:revision>
  <cp:lastPrinted>2015-10-19T19:01:41Z</cp:lastPrinted>
  <dcterms:created xsi:type="dcterms:W3CDTF">2016-06-28T14:05:07Z</dcterms:created>
  <dcterms:modified xsi:type="dcterms:W3CDTF">2026-09-16T17:32:10Z</dcterms:modified>
</cp:coreProperties>
</file>