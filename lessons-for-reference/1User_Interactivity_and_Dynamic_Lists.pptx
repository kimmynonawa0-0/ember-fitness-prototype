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6"/>
  </p:notesMasterIdLst>
  <p:handoutMasterIdLst>
    <p:handoutMasterId r:id="rId17"/>
  </p:handoutMasterIdLst>
  <p:sldIdLst>
    <p:sldId id="291" r:id="rId2"/>
    <p:sldId id="350" r:id="rId3"/>
    <p:sldId id="326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  <a:srgbClr val="186030"/>
    <a:srgbClr val="008000"/>
    <a:srgbClr val="006600"/>
    <a:srgbClr val="828383"/>
    <a:srgbClr val="666666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2" autoAdjust="0"/>
    <p:restoredTop sz="96532" autoAdjust="0"/>
  </p:normalViewPr>
  <p:slideViewPr>
    <p:cSldViewPr snapToGrid="0" snapToObjects="1">
      <p:cViewPr varScale="1">
        <p:scale>
          <a:sx n="96" d="100"/>
          <a:sy n="96" d="100"/>
        </p:scale>
        <p:origin x="84" y="3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pPr/>
              <a:t>9/22/2026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pPr/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86029"/>
            <a:ext cx="10897528" cy="1862328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ctr">
              <a:lnSpc>
                <a:spcPts val="5800"/>
              </a:lnSpc>
              <a:defRPr sz="6000" b="1" i="0" cap="all" baseline="0">
                <a:solidFill>
                  <a:srgbClr val="18603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Presentation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4224771"/>
            <a:ext cx="10897528" cy="57294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ctr">
              <a:buNone/>
              <a:defRPr sz="2800" b="0" i="0">
                <a:solidFill>
                  <a:schemeClr val="accent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61" y="2743199"/>
            <a:ext cx="12191239" cy="895420"/>
          </a:xfrm>
          <a:prstGeom prst="rect">
            <a:avLst/>
          </a:prstGeom>
          <a:ln>
            <a:noFill/>
          </a:ln>
        </p:spPr>
        <p:txBody>
          <a:bodyPr lIns="0" anchor="b">
            <a:normAutofit/>
          </a:bodyPr>
          <a:lstStyle>
            <a:lvl1pPr algn="ctr">
              <a:lnSpc>
                <a:spcPts val="5800"/>
              </a:lnSpc>
              <a:defRPr sz="54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61" y="3625367"/>
            <a:ext cx="12190476" cy="562319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8" y="2189263"/>
            <a:ext cx="6402832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8557757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98566" y="930275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045952" y="6221885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 descr="nwssu-pptbg-topgreen1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61" y="428"/>
            <a:ext cx="12190477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895" r:id="rId3"/>
    <p:sldLayoutId id="2147483897" r:id="rId4"/>
    <p:sldLayoutId id="2147483907" r:id="rId5"/>
    <p:sldLayoutId id="2147483898" r:id="rId6"/>
    <p:sldLayoutId id="2147483900" r:id="rId7"/>
    <p:sldLayoutId id="2147483906" r:id="rId8"/>
    <p:sldLayoutId id="2147483902" r:id="rId9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entury Gothic" panose="020B0502020202020204" pitchFamily="34" charset="0"/>
              </a:rPr>
              <a:t>Building dynamic, responsive apps with React Native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latin typeface="Century Gothic" panose="020B0502020202020204" pitchFamily="34" charset="0"/>
              </a:rPr>
              <a:t>User Interactivity &amp; Dynamic Lists</a:t>
            </a:r>
            <a:endParaRPr lang="en-US" sz="7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457EE-60F4-E3B6-1C98-5DAEC3FFB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961" y="1139143"/>
            <a:ext cx="1835802" cy="513224"/>
          </a:xfrm>
        </p:spPr>
        <p:txBody>
          <a:bodyPr/>
          <a:lstStyle/>
          <a:p>
            <a:r>
              <a:rPr lang="en-PH" dirty="0"/>
              <a:t>Project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F54CA-AEA8-D4B5-8540-777E3F37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066" y="0"/>
            <a:ext cx="438912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9F333D-9318-DDDF-B21E-E2CB993EF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62" y="1601149"/>
            <a:ext cx="1934862" cy="4933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1ADD43-F671-6BE2-DDEC-79911DE5E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492" y="1040705"/>
            <a:ext cx="4951254" cy="5629176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CAFDEC-2D9E-4A42-B1A4-2811D5D14EB7}"/>
              </a:ext>
            </a:extLst>
          </p:cNvPr>
          <p:cNvSpPr txBox="1">
            <a:spLocks/>
          </p:cNvSpPr>
          <p:nvPr/>
        </p:nvSpPr>
        <p:spPr>
          <a:xfrm>
            <a:off x="2712056" y="619654"/>
            <a:ext cx="915726" cy="513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dirty="0"/>
              <a:t>App.js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2147FE9-42A4-3A13-220C-A675A854E5C0}"/>
              </a:ext>
            </a:extLst>
          </p:cNvPr>
          <p:cNvSpPr txBox="1">
            <a:spLocks/>
          </p:cNvSpPr>
          <p:nvPr/>
        </p:nvSpPr>
        <p:spPr>
          <a:xfrm>
            <a:off x="6096000" y="188119"/>
            <a:ext cx="1527313" cy="513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dirty="0"/>
              <a:t>External Style</a:t>
            </a:r>
          </a:p>
        </p:txBody>
      </p:sp>
    </p:spTree>
    <p:extLst>
      <p:ext uri="{BB962C8B-B14F-4D97-AF65-F5344CB8AC3E}">
        <p14:creationId xmlns:p14="http://schemas.microsoft.com/office/powerpoint/2010/main" val="166344442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" y="2792896"/>
            <a:ext cx="12191239" cy="1405587"/>
          </a:xfrm>
        </p:spPr>
        <p:txBody>
          <a:bodyPr>
            <a:noAutofit/>
          </a:bodyPr>
          <a:lstStyle/>
          <a:p>
            <a:r>
              <a:rPr lang="en-US" sz="4800" dirty="0"/>
              <a:t>Introduction to the </a:t>
            </a:r>
            <a:r>
              <a:rPr lang="en-US" sz="4800" dirty="0" err="1"/>
              <a:t>useState</a:t>
            </a:r>
            <a:r>
              <a:rPr lang="en-US" sz="4800" dirty="0"/>
              <a:t> Hook</a:t>
            </a:r>
            <a:endParaRPr lang="en-PH" sz="4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1037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38FA4-0EA5-93DC-8921-6D7673D16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661" y="805071"/>
            <a:ext cx="11807687" cy="5605668"/>
          </a:xfrm>
        </p:spPr>
        <p:txBody>
          <a:bodyPr/>
          <a:lstStyle/>
          <a:p>
            <a:pPr algn="just"/>
            <a:r>
              <a:rPr lang="en-US" sz="2800" dirty="0">
                <a:latin typeface="Century Gothic" panose="020B0502020202020204" pitchFamily="34" charset="0"/>
              </a:rPr>
              <a:t>What is it?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entury Gothic" panose="020B0502020202020204" pitchFamily="34" charset="0"/>
              </a:rPr>
              <a:t>useState</a:t>
            </a:r>
            <a:r>
              <a:rPr lang="en-US" sz="2800" dirty="0">
                <a:latin typeface="Century Gothic" panose="020B0502020202020204" pitchFamily="34" charset="0"/>
              </a:rPr>
              <a:t>() is a React function that gives your app a "memory.“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It allows variables to change over time (like a score going up).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>
                <a:latin typeface="Century Gothic" panose="020B0502020202020204" pitchFamily="34" charset="0"/>
              </a:rPr>
              <a:t>The Syntax: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const [value, </a:t>
            </a:r>
            <a:r>
              <a:rPr lang="en-US" sz="2800" dirty="0" err="1">
                <a:latin typeface="Century Gothic" panose="020B0502020202020204" pitchFamily="34" charset="0"/>
              </a:rPr>
              <a:t>setValue</a:t>
            </a:r>
            <a:r>
              <a:rPr lang="en-US" sz="2800" dirty="0">
                <a:latin typeface="Century Gothic" panose="020B0502020202020204" pitchFamily="34" charset="0"/>
              </a:rPr>
              <a:t>] = </a:t>
            </a:r>
            <a:r>
              <a:rPr lang="en-US" sz="2800" dirty="0" err="1">
                <a:latin typeface="Century Gothic" panose="020B0502020202020204" pitchFamily="34" charset="0"/>
              </a:rPr>
              <a:t>useState</a:t>
            </a:r>
            <a:r>
              <a:rPr lang="en-US" sz="2800" dirty="0">
                <a:latin typeface="Century Gothic" panose="020B0502020202020204" pitchFamily="34" charset="0"/>
              </a:rPr>
              <a:t>(</a:t>
            </a:r>
            <a:r>
              <a:rPr lang="en-US" sz="2800" dirty="0" err="1">
                <a:latin typeface="Century Gothic" panose="020B0502020202020204" pitchFamily="34" charset="0"/>
              </a:rPr>
              <a:t>initialValue</a:t>
            </a:r>
            <a:r>
              <a:rPr lang="en-US" sz="2800" dirty="0">
                <a:latin typeface="Century Gothic" panose="020B0502020202020204" pitchFamily="34" charset="0"/>
              </a:rPr>
              <a:t>);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value: The current data.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entury Gothic" panose="020B0502020202020204" pitchFamily="34" charset="0"/>
              </a:rPr>
              <a:t>setValue</a:t>
            </a:r>
            <a:r>
              <a:rPr lang="en-US" sz="2800" dirty="0">
                <a:latin typeface="Century Gothic" panose="020B0502020202020204" pitchFamily="34" charset="0"/>
              </a:rPr>
              <a:t>: The specific function used to change that data.</a:t>
            </a:r>
          </a:p>
          <a:p>
            <a:pPr algn="just"/>
            <a:endParaRPr lang="en-US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>
                <a:latin typeface="Century Gothic" panose="020B0502020202020204" pitchFamily="34" charset="0"/>
              </a:rPr>
              <a:t>The Magic: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Whenever you call </a:t>
            </a:r>
            <a:r>
              <a:rPr lang="en-US" sz="2800" dirty="0" err="1">
                <a:latin typeface="Century Gothic" panose="020B0502020202020204" pitchFamily="34" charset="0"/>
              </a:rPr>
              <a:t>setValue</a:t>
            </a:r>
            <a:r>
              <a:rPr lang="en-US" sz="2800" dirty="0">
                <a:latin typeface="Century Gothic" panose="020B0502020202020204" pitchFamily="34" charset="0"/>
              </a:rPr>
              <a:t>, React Native automatically refreshes (re-renders) the screen to show the new data.</a:t>
            </a:r>
          </a:p>
          <a:p>
            <a:pPr algn="just"/>
            <a:endParaRPr lang="en-PH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54281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06400D-3737-1C55-52BF-0611CED84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64" y="755374"/>
            <a:ext cx="9542272" cy="591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279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" y="3026465"/>
            <a:ext cx="12191239" cy="805070"/>
          </a:xfrm>
        </p:spPr>
        <p:txBody>
          <a:bodyPr>
            <a:noAutofit/>
          </a:bodyPr>
          <a:lstStyle/>
          <a:p>
            <a:r>
              <a:rPr lang="en-US" sz="4800" dirty="0"/>
              <a:t>Capturing Text Input</a:t>
            </a:r>
            <a:endParaRPr lang="en-PH" sz="4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22954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38FA4-0EA5-93DC-8921-6D7673D16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661" y="805071"/>
            <a:ext cx="11807687" cy="5605668"/>
          </a:xfrm>
        </p:spPr>
        <p:txBody>
          <a:bodyPr/>
          <a:lstStyle/>
          <a:p>
            <a:pPr algn="just"/>
            <a:r>
              <a:rPr lang="en-US" sz="2800" dirty="0">
                <a:latin typeface="Century Gothic" panose="020B0502020202020204" pitchFamily="34" charset="0"/>
              </a:rPr>
              <a:t>The Component: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React Native uses &lt;</a:t>
            </a:r>
            <a:r>
              <a:rPr lang="en-US" sz="2800" dirty="0" err="1">
                <a:latin typeface="Century Gothic" panose="020B0502020202020204" pitchFamily="34" charset="0"/>
              </a:rPr>
              <a:t>TextInput</a:t>
            </a:r>
            <a:r>
              <a:rPr lang="en-US" sz="2800" dirty="0">
                <a:latin typeface="Century Gothic" panose="020B0502020202020204" pitchFamily="34" charset="0"/>
              </a:rPr>
              <a:t>&gt; to capture keyboard typing instead of HTML's &lt;input&gt;.</a:t>
            </a:r>
          </a:p>
          <a:p>
            <a:pPr algn="just"/>
            <a:endParaRPr lang="en-US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 err="1">
                <a:latin typeface="Century Gothic" panose="020B0502020202020204" pitchFamily="34" charset="0"/>
              </a:rPr>
              <a:t>onChangeText</a:t>
            </a:r>
            <a:r>
              <a:rPr lang="en-US" sz="2800" dirty="0">
                <a:latin typeface="Century Gothic" panose="020B0502020202020204" pitchFamily="34" charset="0"/>
              </a:rPr>
              <a:t>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This prop fires a function every single time a user types or deletes a character.</a:t>
            </a:r>
          </a:p>
          <a:p>
            <a:pPr algn="just"/>
            <a:endParaRPr lang="en-US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>
                <a:latin typeface="Century Gothic" panose="020B0502020202020204" pitchFamily="34" charset="0"/>
              </a:rPr>
              <a:t>Controlled Input: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We tie the &lt;</a:t>
            </a:r>
            <a:r>
              <a:rPr lang="en-US" sz="2800" dirty="0" err="1">
                <a:latin typeface="Century Gothic" panose="020B0502020202020204" pitchFamily="34" charset="0"/>
              </a:rPr>
              <a:t>TextInput</a:t>
            </a:r>
            <a:r>
              <a:rPr lang="en-US" sz="2800" dirty="0">
                <a:latin typeface="Century Gothic" panose="020B0502020202020204" pitchFamily="34" charset="0"/>
              </a:rPr>
              <a:t>&gt; directly to a </a:t>
            </a:r>
            <a:r>
              <a:rPr lang="en-US" sz="2800" dirty="0" err="1">
                <a:latin typeface="Century Gothic" panose="020B0502020202020204" pitchFamily="34" charset="0"/>
              </a:rPr>
              <a:t>useState</a:t>
            </a:r>
            <a:r>
              <a:rPr lang="en-US" sz="2800" dirty="0">
                <a:latin typeface="Century Gothic" panose="020B0502020202020204" pitchFamily="34" charset="0"/>
              </a:rPr>
              <a:t> variable so the app always knows exactly what is currently typed in the box.</a:t>
            </a:r>
          </a:p>
          <a:p>
            <a:pPr algn="just"/>
            <a:endParaRPr lang="en-PH" sz="2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4185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B60A7-6C6F-002B-53D7-E097575B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028" y="715617"/>
            <a:ext cx="9209943" cy="59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0842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" y="3026465"/>
            <a:ext cx="12191239" cy="805070"/>
          </a:xfrm>
        </p:spPr>
        <p:txBody>
          <a:bodyPr>
            <a:noAutofit/>
          </a:bodyPr>
          <a:lstStyle/>
          <a:p>
            <a:r>
              <a:rPr lang="en-US" sz="4800" dirty="0"/>
              <a:t>Handling Touch Events</a:t>
            </a:r>
            <a:endParaRPr lang="en-PH" sz="4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44740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38FA4-0EA5-93DC-8921-6D7673D16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661" y="805071"/>
            <a:ext cx="11807687" cy="5605668"/>
          </a:xfrm>
        </p:spPr>
        <p:txBody>
          <a:bodyPr/>
          <a:lstStyle/>
          <a:p>
            <a:pPr algn="just"/>
            <a:r>
              <a:rPr lang="en-US" sz="2800" dirty="0">
                <a:latin typeface="Century Gothic" panose="020B0502020202020204" pitchFamily="34" charset="0"/>
              </a:rPr>
              <a:t>No "Clicks":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Mobile devices use touch events instead of mouse clicks.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PH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>
                <a:latin typeface="Century Gothic" panose="020B0502020202020204" pitchFamily="34" charset="0"/>
              </a:rPr>
              <a:t>Custom Buttons: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While &lt;Button&gt; exists, developers usually use &lt;</a:t>
            </a:r>
            <a:r>
              <a:rPr lang="en-US" sz="2800" dirty="0" err="1">
                <a:latin typeface="Century Gothic" panose="020B0502020202020204" pitchFamily="34" charset="0"/>
              </a:rPr>
              <a:t>TouchableOpacity</a:t>
            </a:r>
            <a:r>
              <a:rPr lang="en-US" sz="2800" dirty="0">
                <a:latin typeface="Century Gothic" panose="020B0502020202020204" pitchFamily="34" charset="0"/>
              </a:rPr>
              <a:t>&gt; or &lt;Pressable&gt; because they can be styled freely with Flexbox.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>
                <a:latin typeface="Century Gothic" panose="020B0502020202020204" pitchFamily="34" charset="0"/>
              </a:rPr>
              <a:t>Visual Feedback: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&lt;</a:t>
            </a:r>
            <a:r>
              <a:rPr lang="en-US" sz="2800" dirty="0" err="1">
                <a:latin typeface="Century Gothic" panose="020B0502020202020204" pitchFamily="34" charset="0"/>
              </a:rPr>
              <a:t>TouchableOpacity</a:t>
            </a:r>
            <a:r>
              <a:rPr lang="en-US" sz="2800" dirty="0">
                <a:latin typeface="Century Gothic" panose="020B0502020202020204" pitchFamily="34" charset="0"/>
              </a:rPr>
              <a:t>&gt; briefly fades out when tapped, proving to the user that the app registered their physical touch.</a:t>
            </a:r>
          </a:p>
          <a:p>
            <a:pPr algn="just"/>
            <a:endParaRPr lang="en-US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 err="1">
                <a:latin typeface="Century Gothic" panose="020B0502020202020204" pitchFamily="34" charset="0"/>
              </a:rPr>
              <a:t>onPress</a:t>
            </a:r>
            <a:r>
              <a:rPr lang="en-US" sz="2800" dirty="0">
                <a:latin typeface="Century Gothic" panose="020B0502020202020204" pitchFamily="34" charset="0"/>
              </a:rPr>
              <a:t> 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This prop triggers an action when tapped.</a:t>
            </a:r>
          </a:p>
        </p:txBody>
      </p:sp>
    </p:spTree>
    <p:extLst>
      <p:ext uri="{BB962C8B-B14F-4D97-AF65-F5344CB8AC3E}">
        <p14:creationId xmlns:p14="http://schemas.microsoft.com/office/powerpoint/2010/main" val="191166277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ED44CF-2D81-286D-8171-60A990F7A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718" y="139148"/>
            <a:ext cx="6350564" cy="654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2359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" y="3026465"/>
            <a:ext cx="12191239" cy="805070"/>
          </a:xfrm>
        </p:spPr>
        <p:txBody>
          <a:bodyPr>
            <a:noAutofit/>
          </a:bodyPr>
          <a:lstStyle/>
          <a:p>
            <a:r>
              <a:rPr lang="en-US" sz="4800" dirty="0"/>
              <a:t>Efficient Lists with </a:t>
            </a:r>
            <a:r>
              <a:rPr lang="en-US" sz="4800" dirty="0" err="1"/>
              <a:t>FlatList</a:t>
            </a:r>
            <a:endParaRPr lang="en-PH" sz="4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27705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A38FA4-0EA5-93DC-8921-6D7673D16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661" y="805071"/>
            <a:ext cx="11807687" cy="5605668"/>
          </a:xfrm>
        </p:spPr>
        <p:txBody>
          <a:bodyPr/>
          <a:lstStyle/>
          <a:p>
            <a:pPr algn="just"/>
            <a:r>
              <a:rPr lang="en-US" sz="2800" dirty="0">
                <a:latin typeface="Century Gothic" panose="020B0502020202020204" pitchFamily="34" charset="0"/>
              </a:rPr>
              <a:t>The Problem: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Rendering a list of 1,000 items all at once will crash a mobile phone.</a:t>
            </a:r>
          </a:p>
          <a:p>
            <a:pPr algn="just"/>
            <a:endParaRPr lang="en-US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>
                <a:latin typeface="Century Gothic" panose="020B0502020202020204" pitchFamily="34" charset="0"/>
              </a:rPr>
              <a:t>The Solution: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&lt;</a:t>
            </a:r>
            <a:r>
              <a:rPr lang="en-US" sz="2800" dirty="0" err="1">
                <a:latin typeface="Century Gothic" panose="020B0502020202020204" pitchFamily="34" charset="0"/>
              </a:rPr>
              <a:t>FlatList</a:t>
            </a:r>
            <a:r>
              <a:rPr lang="en-US" sz="2800" dirty="0">
                <a:latin typeface="Century Gothic" panose="020B0502020202020204" pitchFamily="34" charset="0"/>
              </a:rPr>
              <a:t>&gt; only renders the items currently visible on the screen. As you scroll, it recycles the off-screen items (Lazy Loading).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Century Gothic" panose="020B0502020202020204" pitchFamily="34" charset="0"/>
            </a:endParaRPr>
          </a:p>
          <a:p>
            <a:pPr algn="just"/>
            <a:r>
              <a:rPr lang="en-US" sz="2800" dirty="0">
                <a:latin typeface="Century Gothic" panose="020B0502020202020204" pitchFamily="34" charset="0"/>
              </a:rPr>
              <a:t>Required Props: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data: The array of data you want to display.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entury Gothic" panose="020B0502020202020204" pitchFamily="34" charset="0"/>
              </a:rPr>
              <a:t>renderItem</a:t>
            </a:r>
            <a:r>
              <a:rPr lang="en-US" sz="2800" dirty="0">
                <a:latin typeface="Century Gothic" panose="020B0502020202020204" pitchFamily="34" charset="0"/>
              </a:rPr>
              <a:t>: The UI blueprint for a single row.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entury Gothic" panose="020B0502020202020204" pitchFamily="34" charset="0"/>
              </a:rPr>
              <a:t>keyExtractor</a:t>
            </a:r>
            <a:r>
              <a:rPr lang="en-US" sz="2800" dirty="0">
                <a:latin typeface="Century Gothic" panose="020B0502020202020204" pitchFamily="34" charset="0"/>
              </a:rPr>
              <a:t>: A unique ID for each row so React Native can track them efficiently.</a:t>
            </a:r>
          </a:p>
        </p:txBody>
      </p:sp>
    </p:spTree>
    <p:extLst>
      <p:ext uri="{BB962C8B-B14F-4D97-AF65-F5344CB8AC3E}">
        <p14:creationId xmlns:p14="http://schemas.microsoft.com/office/powerpoint/2010/main" val="325141381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B7E637-28AC-6B14-7716-32015A8E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520" y="205687"/>
            <a:ext cx="6920960" cy="644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8710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UB Powerpoint Templa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45648</TotalTime>
  <Words>349</Words>
  <Application>Microsoft Office PowerPoint</Application>
  <PresentationFormat>Widescreen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Georgia</vt:lpstr>
      <vt:lpstr>LucidaGrande</vt:lpstr>
      <vt:lpstr>UB Powerpoint Template</vt:lpstr>
      <vt:lpstr>User Interactivity &amp; Dynamic Lists</vt:lpstr>
      <vt:lpstr>PowerPoint Presentation</vt:lpstr>
      <vt:lpstr>Introduction to the useState Hook</vt:lpstr>
      <vt:lpstr>PowerPoint Presentation</vt:lpstr>
      <vt:lpstr>PowerPoint Presentation</vt:lpstr>
      <vt:lpstr>Capturing Text Input</vt:lpstr>
      <vt:lpstr>PowerPoint Presentation</vt:lpstr>
      <vt:lpstr>PowerPoint Presentation</vt:lpstr>
      <vt:lpstr>Handling Touch Events</vt:lpstr>
      <vt:lpstr>PowerPoint Presentation</vt:lpstr>
      <vt:lpstr>PowerPoint Presentation</vt:lpstr>
      <vt:lpstr>Efficient Lists with FlatList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NwSSU PPT Green Template</dc:title>
  <dc:creator>raa</dc:creator>
  <cp:lastModifiedBy>YuoRitz</cp:lastModifiedBy>
  <cp:revision>797</cp:revision>
  <cp:lastPrinted>2015-10-19T19:01:41Z</cp:lastPrinted>
  <dcterms:created xsi:type="dcterms:W3CDTF">2016-06-28T14:05:07Z</dcterms:created>
  <dcterms:modified xsi:type="dcterms:W3CDTF">2026-09-22T15:24:50Z</dcterms:modified>
</cp:coreProperties>
</file>